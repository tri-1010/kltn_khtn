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hướng cũ không bị bỏ đi; được giữ thành baseline phản biện. Hướng mới tập trung hỗ trợ quyết định có bằng chứng, không hứa hẹn tín hiệu mua/bán.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cho thấy hạ tầng nghiên cứu đã hoàn thành xuyên suốt từ dữ liệu, ML, LLM đến prototype. Không dùng các số này để suy ra hiệu quả đầu tư.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rõ negative finding là kết quả có giá trị. Keyword không chứng minh tin tức vô ích; nó chỉ cho thấy biểu diễn bằng đếm từ thiếu ngữ cảnh và không đủ tốt cho mục tiêu nghiên cứu.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LLM phục vụ trích xuất có cấu trúc và bằng chứng, không thay thế hoàn toàn đánh giá chuyên gia. Agreement 0,84 là nhất quán giữa annotators, không phải độ chính xác quần thể.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dùng kết quả này làm lời hứa lợi nhuận. Điểm mạnh là có test correction, confidence interval, purged OOS và kết luận null/weak được báo cáo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đề tài chuyển từ tối ưu keyword sang hệ thống hỗ trợ quyết định có bằng chứng. Ba bước sau là điều kiện để tăng độ tin cậy trước bất kỳ kết luận đầu tư nào.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10312" cy="6858000"/>
          </a:xfrm>
          <a:prstGeom prst="rect">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7223760" cy="292608"/>
          </a:xfrm>
          <a:prstGeom prst="rect">
            <a:avLst/>
          </a:prstGeom>
          <a:noFill/>
        </p:spPr>
        <p:txBody>
          <a:bodyPr wrap="none" lIns="0" rIns="0" tIns="0" bIns="0" anchor="t">
            <a:spAutoFit/>
          </a:bodyPr>
          <a:lstStyle/>
          <a:p>
            <a:pPr algn="l">
              <a:lnSpc>
                <a:spcPct val="100000"/>
              </a:lnSpc>
              <a:spcAft>
                <a:spcPts val="0"/>
              </a:spcAft>
            </a:pPr>
            <a:r>
              <a:rPr sz="1200" b="1">
                <a:solidFill>
                  <a:srgbClr val="007076"/>
                </a:solidFill>
                <a:latin typeface="Aptos"/>
              </a:rPr>
              <a:t>CẬP NHẬT HƯỚNG NGHIÊN CỨU LUẬN VĂN</a:t>
            </a:r>
          </a:p>
        </p:txBody>
      </p:sp>
      <p:sp>
        <p:nvSpPr>
          <p:cNvPr id="4" name="TextBox 3"/>
          <p:cNvSpPr txBox="1"/>
          <p:nvPr/>
        </p:nvSpPr>
        <p:spPr>
          <a:xfrm>
            <a:off x="658368" y="987552"/>
            <a:ext cx="7589520" cy="1417320"/>
          </a:xfrm>
          <a:prstGeom prst="rect">
            <a:avLst/>
          </a:prstGeom>
          <a:noFill/>
        </p:spPr>
        <p:txBody>
          <a:bodyPr wrap="none" lIns="0" rIns="0" tIns="0" bIns="0" anchor="t">
            <a:spAutoFit/>
          </a:bodyPr>
          <a:lstStyle/>
          <a:p>
            <a:pPr algn="l">
              <a:lnSpc>
                <a:spcPct val="93000"/>
              </a:lnSpc>
              <a:spcAft>
                <a:spcPts val="0"/>
              </a:spcAft>
            </a:pPr>
            <a:r>
              <a:rPr sz="3300" b="1">
                <a:solidFill>
                  <a:srgbClr val="122B46"/>
                </a:solidFill>
                <a:latin typeface="Aptos"/>
              </a:rPr>
              <a:t>Từ keyword-based</a:t>
            </a:r>
            <a:br/>
            <a:r>
              <a:rPr sz="3300" b="1">
                <a:solidFill>
                  <a:srgbClr val="122B46"/>
                </a:solidFill>
                <a:latin typeface="Aptos"/>
              </a:rPr>
              <a:t>đến LLM hỗ trợ quyết định</a:t>
            </a:r>
          </a:p>
        </p:txBody>
      </p:sp>
      <p:sp>
        <p:nvSpPr>
          <p:cNvPr id="5" name="TextBox 4"/>
          <p:cNvSpPr txBox="1"/>
          <p:nvPr/>
        </p:nvSpPr>
        <p:spPr>
          <a:xfrm>
            <a:off x="658368" y="2670048"/>
            <a:ext cx="7132320" cy="640080"/>
          </a:xfrm>
          <a:prstGeom prst="rect">
            <a:avLst/>
          </a:prstGeom>
          <a:noFill/>
        </p:spPr>
        <p:txBody>
          <a:bodyPr wrap="none" lIns="0" rIns="0" tIns="0" bIns="0" anchor="t">
            <a:spAutoFit/>
          </a:bodyPr>
          <a:lstStyle/>
          <a:p>
            <a:pPr algn="l">
              <a:lnSpc>
                <a:spcPct val="100000"/>
              </a:lnSpc>
              <a:spcAft>
                <a:spcPts val="0"/>
              </a:spcAft>
            </a:pPr>
            <a:r>
              <a:rPr sz="1700" b="0">
                <a:solidFill>
                  <a:srgbClr val="1C2630"/>
                </a:solidFill>
                <a:latin typeface="Aptos"/>
              </a:rPr>
              <a:t>Mục tiêu mới: kết hợp tín hiệu kỹ thuật, hiểu ngữ cảnh tin tức và bằng chứng có thể kiểm tra.</a:t>
            </a:r>
          </a:p>
        </p:txBody>
      </p:sp>
      <p:sp>
        <p:nvSpPr>
          <p:cNvPr id="6" name="Rounded Rectangle 5"/>
          <p:cNvSpPr/>
          <p:nvPr/>
        </p:nvSpPr>
        <p:spPr>
          <a:xfrm>
            <a:off x="658368" y="4005072"/>
            <a:ext cx="3035808" cy="1426464"/>
          </a:xfrm>
          <a:prstGeom prst="roundRect">
            <a:avLst>
              <a:gd name="adj" fmla="val 8000"/>
            </a:avLst>
          </a:prstGeom>
          <a:solidFill>
            <a:srgbClr val="FCF6EA"/>
          </a:solidFill>
          <a:ln>
            <a:solidFill>
              <a:srgbClr val="FCF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4005072"/>
            <a:ext cx="54864" cy="1426464"/>
          </a:xfrm>
          <a:prstGeom prst="roundRect">
            <a:avLst>
              <a:gd name="adj" fmla="val 8000"/>
            </a:avLst>
          </a:prstGeom>
          <a:solidFill>
            <a:srgbClr val="C4751B"/>
          </a:solidFill>
          <a:ln>
            <a:solidFill>
              <a:srgbClr val="C47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4187952"/>
            <a:ext cx="1024128" cy="640080"/>
          </a:xfrm>
          <a:prstGeom prst="rect">
            <a:avLst/>
          </a:prstGeom>
          <a:noFill/>
        </p:spPr>
        <p:txBody>
          <a:bodyPr wrap="none" lIns="0" rIns="0" tIns="0" bIns="0" anchor="t">
            <a:spAutoFit/>
          </a:bodyPr>
          <a:lstStyle/>
          <a:p>
            <a:pPr algn="l">
              <a:lnSpc>
                <a:spcPct val="85000"/>
              </a:lnSpc>
              <a:spcAft>
                <a:spcPts val="0"/>
              </a:spcAft>
            </a:pPr>
            <a:r>
              <a:rPr sz="1800" b="1">
                <a:solidFill>
                  <a:srgbClr val="122B46"/>
                </a:solidFill>
                <a:latin typeface="Aptos"/>
              </a:rPr>
              <a:t>Keyword</a:t>
            </a:r>
            <a:br/>
            <a:r>
              <a:rPr sz="1800" b="1">
                <a:solidFill>
                  <a:srgbClr val="122B46"/>
                </a:solidFill>
                <a:latin typeface="Aptos"/>
              </a:rPr>
              <a:t>đếm từ</a:t>
            </a:r>
          </a:p>
        </p:txBody>
      </p:sp>
      <p:sp>
        <p:nvSpPr>
          <p:cNvPr id="9" name="TextBox 8"/>
          <p:cNvSpPr txBox="1"/>
          <p:nvPr/>
        </p:nvSpPr>
        <p:spPr>
          <a:xfrm>
            <a:off x="1956816" y="4261104"/>
            <a:ext cx="1481328" cy="658368"/>
          </a:xfrm>
          <a:prstGeom prst="rect">
            <a:avLst/>
          </a:prstGeom>
          <a:noFill/>
        </p:spPr>
        <p:txBody>
          <a:bodyPr wrap="none" lIns="0" rIns="0" tIns="0" bIns="0" anchor="t">
            <a:spAutoFit/>
          </a:bodyPr>
          <a:lstStyle/>
          <a:p>
            <a:pPr algn="l">
              <a:lnSpc>
                <a:spcPct val="100000"/>
              </a:lnSpc>
              <a:spcAft>
                <a:spcPts val="0"/>
              </a:spcAft>
            </a:pPr>
            <a:r>
              <a:rPr sz="1120" b="0">
                <a:solidFill>
                  <a:srgbClr val="1C2630"/>
                </a:solidFill>
                <a:latin typeface="Aptos"/>
              </a:rPr>
              <a:t>Đã thử nhiều cách</a:t>
            </a:r>
            <a:br/>
            <a:r>
              <a:rPr sz="1120" b="0">
                <a:solidFill>
                  <a:srgbClr val="1C2630"/>
                </a:solidFill>
                <a:latin typeface="Aptos"/>
              </a:rPr>
              <a:t>nhưng không ổn định</a:t>
            </a:r>
          </a:p>
        </p:txBody>
      </p:sp>
      <p:sp>
        <p:nvSpPr>
          <p:cNvPr id="10" name="TextBox 9"/>
          <p:cNvSpPr txBox="1"/>
          <p:nvPr/>
        </p:nvSpPr>
        <p:spPr>
          <a:xfrm>
            <a:off x="3749040" y="4489704"/>
            <a:ext cx="310896" cy="310896"/>
          </a:xfrm>
          <a:prstGeom prst="rect">
            <a:avLst/>
          </a:prstGeom>
          <a:noFill/>
        </p:spPr>
        <p:txBody>
          <a:bodyPr wrap="none" lIns="0" rIns="0" tIns="0" bIns="0" anchor="t">
            <a:spAutoFit/>
          </a:bodyPr>
          <a:lstStyle/>
          <a:p>
            <a:pPr algn="ctr">
              <a:lnSpc>
                <a:spcPct val="100000"/>
              </a:lnSpc>
              <a:spcAft>
                <a:spcPts val="0"/>
              </a:spcAft>
            </a:pPr>
            <a:r>
              <a:rPr sz="2400" b="1">
                <a:solidFill>
                  <a:srgbClr val="007076"/>
                </a:solidFill>
                <a:latin typeface="Aptos"/>
              </a:rPr>
              <a:t>→</a:t>
            </a:r>
          </a:p>
        </p:txBody>
      </p:sp>
      <p:sp>
        <p:nvSpPr>
          <p:cNvPr id="11" name="Rounded Rectangle 10"/>
          <p:cNvSpPr/>
          <p:nvPr/>
        </p:nvSpPr>
        <p:spPr>
          <a:xfrm>
            <a:off x="4224528" y="4005072"/>
            <a:ext cx="3035808" cy="1426464"/>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24528" y="4005072"/>
            <a:ext cx="54864" cy="1426464"/>
          </a:xfrm>
          <a:prstGeom prst="roundRect">
            <a:avLst>
              <a:gd name="adj" fmla="val 8000"/>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4187952"/>
            <a:ext cx="1024128" cy="640080"/>
          </a:xfrm>
          <a:prstGeom prst="rect">
            <a:avLst/>
          </a:prstGeom>
          <a:noFill/>
        </p:spPr>
        <p:txBody>
          <a:bodyPr wrap="none" lIns="0" rIns="0" tIns="0" bIns="0" anchor="t">
            <a:spAutoFit/>
          </a:bodyPr>
          <a:lstStyle/>
          <a:p>
            <a:pPr algn="l">
              <a:lnSpc>
                <a:spcPct val="85000"/>
              </a:lnSpc>
              <a:spcAft>
                <a:spcPts val="0"/>
              </a:spcAft>
            </a:pPr>
            <a:r>
              <a:rPr sz="1800" b="1">
                <a:solidFill>
                  <a:srgbClr val="122B46"/>
                </a:solidFill>
                <a:latin typeface="Aptos"/>
              </a:rPr>
              <a:t>LLM</a:t>
            </a:r>
            <a:br/>
            <a:r>
              <a:rPr sz="1800" b="1">
                <a:solidFill>
                  <a:srgbClr val="122B46"/>
                </a:solidFill>
                <a:latin typeface="Aptos"/>
              </a:rPr>
              <a:t>đọc ngữ cảnh</a:t>
            </a:r>
          </a:p>
        </p:txBody>
      </p:sp>
      <p:sp>
        <p:nvSpPr>
          <p:cNvPr id="14" name="TextBox 13"/>
          <p:cNvSpPr txBox="1"/>
          <p:nvPr/>
        </p:nvSpPr>
        <p:spPr>
          <a:xfrm>
            <a:off x="5522976" y="4261104"/>
            <a:ext cx="1481328" cy="658368"/>
          </a:xfrm>
          <a:prstGeom prst="rect">
            <a:avLst/>
          </a:prstGeom>
          <a:noFill/>
        </p:spPr>
        <p:txBody>
          <a:bodyPr wrap="none" lIns="0" rIns="0" tIns="0" bIns="0" anchor="t">
            <a:spAutoFit/>
          </a:bodyPr>
          <a:lstStyle/>
          <a:p>
            <a:pPr algn="l">
              <a:lnSpc>
                <a:spcPct val="100000"/>
              </a:lnSpc>
              <a:spcAft>
                <a:spcPts val="0"/>
              </a:spcAft>
            </a:pPr>
            <a:r>
              <a:rPr sz="1120" b="0">
                <a:solidFill>
                  <a:srgbClr val="1C2630"/>
                </a:solidFill>
                <a:latin typeface="Aptos"/>
              </a:rPr>
              <a:t>Trích relevance, materiality,</a:t>
            </a:r>
            <a:br/>
            <a:r>
              <a:rPr sz="1120" b="0">
                <a:solidFill>
                  <a:srgbClr val="1C2630"/>
                </a:solidFill>
                <a:latin typeface="Aptos"/>
              </a:rPr>
              <a:t>direction, evidence span</a:t>
            </a:r>
          </a:p>
        </p:txBody>
      </p:sp>
      <p:sp>
        <p:nvSpPr>
          <p:cNvPr id="15" name="TextBox 14"/>
          <p:cNvSpPr txBox="1"/>
          <p:nvPr/>
        </p:nvSpPr>
        <p:spPr>
          <a:xfrm>
            <a:off x="7315200" y="4489704"/>
            <a:ext cx="310896" cy="310896"/>
          </a:xfrm>
          <a:prstGeom prst="rect">
            <a:avLst/>
          </a:prstGeom>
          <a:noFill/>
        </p:spPr>
        <p:txBody>
          <a:bodyPr wrap="none" lIns="0" rIns="0" tIns="0" bIns="0" anchor="t">
            <a:spAutoFit/>
          </a:bodyPr>
          <a:lstStyle/>
          <a:p>
            <a:pPr algn="ctr">
              <a:lnSpc>
                <a:spcPct val="100000"/>
              </a:lnSpc>
              <a:spcAft>
                <a:spcPts val="0"/>
              </a:spcAft>
            </a:pPr>
            <a:r>
              <a:rPr sz="2400" b="1">
                <a:solidFill>
                  <a:srgbClr val="007076"/>
                </a:solidFill>
                <a:latin typeface="Aptos"/>
              </a:rPr>
              <a:t>→</a:t>
            </a:r>
          </a:p>
        </p:txBody>
      </p:sp>
      <p:sp>
        <p:nvSpPr>
          <p:cNvPr id="16" name="Rounded Rectangle 15"/>
          <p:cNvSpPr/>
          <p:nvPr/>
        </p:nvSpPr>
        <p:spPr>
          <a:xfrm>
            <a:off x="7790688" y="4005072"/>
            <a:ext cx="3035808" cy="1426464"/>
          </a:xfrm>
          <a:prstGeom prst="roundRect">
            <a:avLst>
              <a:gd name="adj" fmla="val 8000"/>
            </a:avLst>
          </a:prstGeom>
          <a:solidFill>
            <a:srgbClr val="EDF6FA"/>
          </a:solidFill>
          <a:ln>
            <a:solidFill>
              <a:srgbClr val="ED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90688" y="4005072"/>
            <a:ext cx="54864" cy="1426464"/>
          </a:xfrm>
          <a:prstGeom prst="roundRect">
            <a:avLst>
              <a:gd name="adj" fmla="val 8000"/>
            </a:avLst>
          </a:prstGeom>
          <a:solidFill>
            <a:srgbClr val="122B46"/>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19288" y="4187952"/>
            <a:ext cx="1024128" cy="640080"/>
          </a:xfrm>
          <a:prstGeom prst="rect">
            <a:avLst/>
          </a:prstGeom>
          <a:noFill/>
        </p:spPr>
        <p:txBody>
          <a:bodyPr wrap="none" lIns="0" rIns="0" tIns="0" bIns="0" anchor="t">
            <a:spAutoFit/>
          </a:bodyPr>
          <a:lstStyle/>
          <a:p>
            <a:pPr algn="l">
              <a:lnSpc>
                <a:spcPct val="85000"/>
              </a:lnSpc>
              <a:spcAft>
                <a:spcPts val="0"/>
              </a:spcAft>
            </a:pPr>
            <a:r>
              <a:rPr sz="1800" b="1">
                <a:solidFill>
                  <a:srgbClr val="122B46"/>
                </a:solidFill>
                <a:latin typeface="Aptos"/>
              </a:rPr>
              <a:t>Decision</a:t>
            </a:r>
            <a:br/>
            <a:r>
              <a:rPr sz="1800" b="1">
                <a:solidFill>
                  <a:srgbClr val="122B46"/>
                </a:solidFill>
                <a:latin typeface="Aptos"/>
              </a:rPr>
              <a:t>support</a:t>
            </a:r>
          </a:p>
        </p:txBody>
      </p:sp>
      <p:sp>
        <p:nvSpPr>
          <p:cNvPr id="19" name="TextBox 18"/>
          <p:cNvSpPr txBox="1"/>
          <p:nvPr/>
        </p:nvSpPr>
        <p:spPr>
          <a:xfrm>
            <a:off x="9089136" y="4261104"/>
            <a:ext cx="1481328" cy="658368"/>
          </a:xfrm>
          <a:prstGeom prst="rect">
            <a:avLst/>
          </a:prstGeom>
          <a:noFill/>
        </p:spPr>
        <p:txBody>
          <a:bodyPr wrap="none" lIns="0" rIns="0" tIns="0" bIns="0" anchor="t">
            <a:spAutoFit/>
          </a:bodyPr>
          <a:lstStyle/>
          <a:p>
            <a:pPr algn="l">
              <a:lnSpc>
                <a:spcPct val="100000"/>
              </a:lnSpc>
              <a:spcAft>
                <a:spcPts val="0"/>
              </a:spcAft>
            </a:pPr>
            <a:r>
              <a:rPr sz="1120" b="0">
                <a:solidFill>
                  <a:srgbClr val="1C2630"/>
                </a:solidFill>
                <a:latin typeface="Aptos"/>
              </a:rPr>
              <a:t>Evidence card + dashboard</a:t>
            </a:r>
            <a:br/>
            <a:r>
              <a:rPr sz="1120" b="0">
                <a:solidFill>
                  <a:srgbClr val="1C2630"/>
                </a:solidFill>
                <a:latin typeface="Aptos"/>
              </a:rPr>
              <a:t>hỗ trợ nhà đầu tư</a:t>
            </a:r>
          </a:p>
        </p:txBody>
      </p:sp>
      <p:sp>
        <p:nvSpPr>
          <p:cNvPr id="20" name="TextBox 19"/>
          <p:cNvSpPr txBox="1"/>
          <p:nvPr/>
        </p:nvSpPr>
        <p:spPr>
          <a:xfrm>
            <a:off x="658368" y="6099048"/>
            <a:ext cx="3200400" cy="274320"/>
          </a:xfrm>
          <a:prstGeom prst="rect">
            <a:avLst/>
          </a:prstGeom>
          <a:noFill/>
        </p:spPr>
        <p:txBody>
          <a:bodyPr wrap="none" lIns="0" rIns="0" tIns="0" bIns="0" anchor="t">
            <a:spAutoFit/>
          </a:bodyPr>
          <a:lstStyle/>
          <a:p>
            <a:pPr algn="l">
              <a:lnSpc>
                <a:spcPct val="100000"/>
              </a:lnSpc>
              <a:spcAft>
                <a:spcPts val="0"/>
              </a:spcAft>
            </a:pPr>
            <a:r>
              <a:rPr sz="1100" b="0">
                <a:solidFill>
                  <a:srgbClr val="5B6773"/>
                </a:solidFill>
                <a:latin typeface="Aptos"/>
              </a:rPr>
              <a:t>Bản cập nhật ngắn gửi GVHD</a:t>
            </a:r>
          </a:p>
        </p:txBody>
      </p:sp>
      <p:sp>
        <p:nvSpPr>
          <p:cNvPr id="21" name="Rectangle 20"/>
          <p:cNvSpPr/>
          <p:nvPr/>
        </p:nvSpPr>
        <p:spPr>
          <a:xfrm>
            <a:off x="658368" y="6455664"/>
            <a:ext cx="10872216" cy="9144"/>
          </a:xfrm>
          <a:prstGeom prst="rect">
            <a:avLst/>
          </a:prstGeom>
          <a:solidFill>
            <a:srgbClr val="D7DEE4"/>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6528816"/>
            <a:ext cx="9784080" cy="173736"/>
          </a:xfrm>
          <a:prstGeom prst="rect">
            <a:avLst/>
          </a:prstGeom>
          <a:noFill/>
        </p:spPr>
        <p:txBody>
          <a:bodyPr wrap="none" lIns="0" rIns="0" tIns="0" bIns="0" anchor="t">
            <a:spAutoFit/>
          </a:bodyPr>
          <a:lstStyle/>
          <a:p>
            <a:pPr algn="l">
              <a:lnSpc>
                <a:spcPct val="100000"/>
              </a:lnSpc>
              <a:spcAft>
                <a:spcPts val="0"/>
              </a:spcAft>
            </a:pPr>
            <a:r>
              <a:rPr sz="830" b="0">
                <a:solidFill>
                  <a:srgbClr val="5B6773"/>
                </a:solidFill>
                <a:latin typeface="Aptos"/>
              </a:rPr>
              <a:t>Nguồn: advisor_pitch_one_page.md; ket_qua_luan_van_semantic_news_materiality.md</a:t>
            </a:r>
          </a:p>
        </p:txBody>
      </p:sp>
      <p:sp>
        <p:nvSpPr>
          <p:cNvPr id="23" name="TextBox 22"/>
          <p:cNvSpPr txBox="1"/>
          <p:nvPr/>
        </p:nvSpPr>
        <p:spPr>
          <a:xfrm>
            <a:off x="9921240" y="6528816"/>
            <a:ext cx="1609344" cy="173736"/>
          </a:xfrm>
          <a:prstGeom prst="rect">
            <a:avLst/>
          </a:prstGeom>
          <a:noFill/>
        </p:spPr>
        <p:txBody>
          <a:bodyPr wrap="none" lIns="0" rIns="0" tIns="0" bIns="0" anchor="t">
            <a:spAutoFit/>
          </a:bodyPr>
          <a:lstStyle/>
          <a:p>
            <a:pPr algn="r">
              <a:lnSpc>
                <a:spcPct val="100000"/>
              </a:lnSpc>
              <a:spcAft>
                <a:spcPts val="0"/>
              </a:spcAft>
            </a:pPr>
            <a:r>
              <a:rPr sz="830" b="0">
                <a:solidFill>
                  <a:srgbClr val="5B6773"/>
                </a:solidFill>
                <a:latin typeface="Aptos"/>
              </a:rPr>
              <a:t>KLTN | Cập nhật hướng nghiên cứu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7955279" cy="228600"/>
          </a:xfrm>
          <a:prstGeom prst="rect">
            <a:avLst/>
          </a:prstGeom>
          <a:noFill/>
        </p:spPr>
        <p:txBody>
          <a:bodyPr wrap="none" lIns="0" rIns="0" tIns="0" bIns="0" anchor="t">
            <a:spAutoFit/>
          </a:bodyPr>
          <a:lstStyle/>
          <a:p>
            <a:pPr algn="l">
              <a:lnSpc>
                <a:spcPct val="100000"/>
              </a:lnSpc>
              <a:spcAft>
                <a:spcPts val="0"/>
              </a:spcAft>
            </a:pPr>
            <a:r>
              <a:rPr sz="1000" b="1">
                <a:solidFill>
                  <a:srgbClr val="007076"/>
                </a:solidFill>
                <a:latin typeface="Aptos"/>
              </a:rPr>
              <a:t>TIẾN ĐỘ NGHIÊN CỨU</a:t>
            </a:r>
          </a:p>
        </p:txBody>
      </p:sp>
      <p:sp>
        <p:nvSpPr>
          <p:cNvPr id="3" name="TextBox 2"/>
          <p:cNvSpPr txBox="1"/>
          <p:nvPr/>
        </p:nvSpPr>
        <p:spPr>
          <a:xfrm>
            <a:off x="658368" y="603504"/>
            <a:ext cx="10241280" cy="566928"/>
          </a:xfrm>
          <a:prstGeom prst="rect">
            <a:avLst/>
          </a:prstGeom>
          <a:noFill/>
        </p:spPr>
        <p:txBody>
          <a:bodyPr wrap="none" lIns="0" rIns="0" tIns="0" bIns="0" anchor="t">
            <a:spAutoFit/>
          </a:bodyPr>
          <a:lstStyle/>
          <a:p>
            <a:pPr algn="l">
              <a:lnSpc>
                <a:spcPct val="100000"/>
              </a:lnSpc>
              <a:spcAft>
                <a:spcPts val="0"/>
              </a:spcAft>
            </a:pPr>
            <a:r>
              <a:rPr sz="2700" b="1">
                <a:solidFill>
                  <a:srgbClr val="122B46"/>
                </a:solidFill>
                <a:latin typeface="Aptos"/>
              </a:rPr>
              <a:t>Các hạng mục đã hoàn thành</a:t>
            </a:r>
          </a:p>
        </p:txBody>
      </p:sp>
      <p:sp>
        <p:nvSpPr>
          <p:cNvPr id="4" name="Rectangle 3"/>
          <p:cNvSpPr/>
          <p:nvPr/>
        </p:nvSpPr>
        <p:spPr>
          <a:xfrm>
            <a:off x="658368" y="1252728"/>
            <a:ext cx="950976" cy="45720"/>
          </a:xfrm>
          <a:prstGeom prst="rect">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0816" y="356616"/>
            <a:ext cx="429768" cy="274320"/>
          </a:xfrm>
          <a:prstGeom prst="rect">
            <a:avLst/>
          </a:prstGeom>
          <a:noFill/>
        </p:spPr>
        <p:txBody>
          <a:bodyPr wrap="none" lIns="0" rIns="0" tIns="0" bIns="0" anchor="t">
            <a:spAutoFit/>
          </a:bodyPr>
          <a:lstStyle/>
          <a:p>
            <a:pPr algn="r">
              <a:lnSpc>
                <a:spcPct val="100000"/>
              </a:lnSpc>
              <a:spcAft>
                <a:spcPts val="0"/>
              </a:spcAft>
            </a:pPr>
            <a:r>
              <a:rPr sz="1100" b="1">
                <a:solidFill>
                  <a:srgbClr val="5B6773"/>
                </a:solidFill>
                <a:latin typeface="Aptos"/>
              </a:rPr>
              <a:t>02</a:t>
            </a:r>
          </a:p>
        </p:txBody>
      </p:sp>
      <p:sp>
        <p:nvSpPr>
          <p:cNvPr id="6" name="Rounded Rectangle 5"/>
          <p:cNvSpPr/>
          <p:nvPr/>
        </p:nvSpPr>
        <p:spPr>
          <a:xfrm>
            <a:off x="694944" y="1600200"/>
            <a:ext cx="2468880" cy="1261872"/>
          </a:xfrm>
          <a:prstGeom prst="roundRect">
            <a:avLst>
              <a:gd name="adj" fmla="val 8000"/>
            </a:avLst>
          </a:prstGeom>
          <a:solidFill>
            <a:srgbClr val="EDF6FA"/>
          </a:solidFill>
          <a:ln>
            <a:solidFill>
              <a:srgbClr val="ED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4944" y="1600200"/>
            <a:ext cx="54864" cy="1261872"/>
          </a:xfrm>
          <a:prstGeom prst="roundRect">
            <a:avLst>
              <a:gd name="adj" fmla="val 8000"/>
            </a:avLst>
          </a:prstGeom>
          <a:solidFill>
            <a:srgbClr val="122B46"/>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55648"/>
            <a:ext cx="2121408" cy="384048"/>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28.062</a:t>
            </a:r>
          </a:p>
        </p:txBody>
      </p:sp>
      <p:sp>
        <p:nvSpPr>
          <p:cNvPr id="9" name="TextBox 8"/>
          <p:cNvSpPr txBox="1"/>
          <p:nvPr/>
        </p:nvSpPr>
        <p:spPr>
          <a:xfrm>
            <a:off x="914400" y="2258568"/>
            <a:ext cx="2121408" cy="512064"/>
          </a:xfrm>
          <a:prstGeom prst="rect">
            <a:avLst/>
          </a:prstGeom>
          <a:noFill/>
        </p:spPr>
        <p:txBody>
          <a:bodyPr wrap="none" lIns="0" rIns="0" tIns="0" bIns="0" anchor="t">
            <a:spAutoFit/>
          </a:bodyPr>
          <a:lstStyle/>
          <a:p>
            <a:pPr algn="l">
              <a:lnSpc>
                <a:spcPct val="100000"/>
              </a:lnSpc>
              <a:spcAft>
                <a:spcPts val="0"/>
              </a:spcAft>
            </a:pPr>
            <a:r>
              <a:rPr sz="1150" b="0">
                <a:solidFill>
                  <a:srgbClr val="5B6773"/>
                </a:solidFill>
                <a:latin typeface="Aptos"/>
              </a:rPr>
              <a:t>bài tin unique</a:t>
            </a:r>
            <a:br/>
            <a:r>
              <a:rPr sz="1150" b="0">
                <a:solidFill>
                  <a:srgbClr val="5B6773"/>
                </a:solidFill>
                <a:latin typeface="Aptos"/>
              </a:rPr>
              <a:t>6 nguồn</a:t>
            </a:r>
          </a:p>
        </p:txBody>
      </p:sp>
      <p:sp>
        <p:nvSpPr>
          <p:cNvPr id="10" name="Rounded Rectangle 9"/>
          <p:cNvSpPr/>
          <p:nvPr/>
        </p:nvSpPr>
        <p:spPr>
          <a:xfrm>
            <a:off x="3328416" y="1600200"/>
            <a:ext cx="2468880" cy="1261872"/>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28416" y="1600200"/>
            <a:ext cx="54864" cy="1261872"/>
          </a:xfrm>
          <a:prstGeom prst="roundRect">
            <a:avLst>
              <a:gd name="adj" fmla="val 8000"/>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1755648"/>
            <a:ext cx="2121408" cy="384048"/>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685.704</a:t>
            </a:r>
          </a:p>
        </p:txBody>
      </p:sp>
      <p:sp>
        <p:nvSpPr>
          <p:cNvPr id="13" name="TextBox 12"/>
          <p:cNvSpPr txBox="1"/>
          <p:nvPr/>
        </p:nvSpPr>
        <p:spPr>
          <a:xfrm>
            <a:off x="3547872" y="2258568"/>
            <a:ext cx="2121408" cy="512064"/>
          </a:xfrm>
          <a:prstGeom prst="rect">
            <a:avLst/>
          </a:prstGeom>
          <a:noFill/>
        </p:spPr>
        <p:txBody>
          <a:bodyPr wrap="none" lIns="0" rIns="0" tIns="0" bIns="0" anchor="t">
            <a:spAutoFit/>
          </a:bodyPr>
          <a:lstStyle/>
          <a:p>
            <a:pPr algn="l">
              <a:lnSpc>
                <a:spcPct val="100000"/>
              </a:lnSpc>
              <a:spcAft>
                <a:spcPts val="0"/>
              </a:spcAft>
            </a:pPr>
            <a:r>
              <a:rPr sz="1150" b="0">
                <a:solidFill>
                  <a:srgbClr val="5B6773"/>
                </a:solidFill>
                <a:latin typeface="Aptos"/>
              </a:rPr>
              <a:t>dự báo ML out-of-sample</a:t>
            </a:r>
            <a:br/>
            <a:r>
              <a:rPr sz="1150" b="0">
                <a:solidFill>
                  <a:srgbClr val="5B6773"/>
                </a:solidFill>
                <a:latin typeface="Aptos"/>
              </a:rPr>
              <a:t>3 purged folds</a:t>
            </a:r>
          </a:p>
        </p:txBody>
      </p:sp>
      <p:sp>
        <p:nvSpPr>
          <p:cNvPr id="14" name="Rounded Rectangle 13"/>
          <p:cNvSpPr/>
          <p:nvPr/>
        </p:nvSpPr>
        <p:spPr>
          <a:xfrm>
            <a:off x="5961888" y="1600200"/>
            <a:ext cx="2468880" cy="1261872"/>
          </a:xfrm>
          <a:prstGeom prst="roundRect">
            <a:avLst>
              <a:gd name="adj" fmla="val 8000"/>
            </a:avLst>
          </a:prstGeom>
          <a:solidFill>
            <a:srgbClr val="FCF6EA"/>
          </a:solidFill>
          <a:ln>
            <a:solidFill>
              <a:srgbClr val="FCF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61888" y="1600200"/>
            <a:ext cx="54864" cy="1261872"/>
          </a:xfrm>
          <a:prstGeom prst="roundRect">
            <a:avLst>
              <a:gd name="adj" fmla="val 8000"/>
            </a:avLst>
          </a:prstGeom>
          <a:solidFill>
            <a:srgbClr val="C4751B"/>
          </a:solidFill>
          <a:ln>
            <a:solidFill>
              <a:srgbClr val="C47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1755648"/>
            <a:ext cx="2121408" cy="384048"/>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150</a:t>
            </a:r>
          </a:p>
        </p:txBody>
      </p:sp>
      <p:sp>
        <p:nvSpPr>
          <p:cNvPr id="17" name="TextBox 16"/>
          <p:cNvSpPr txBox="1"/>
          <p:nvPr/>
        </p:nvSpPr>
        <p:spPr>
          <a:xfrm>
            <a:off x="6181344" y="2258568"/>
            <a:ext cx="2121408" cy="512064"/>
          </a:xfrm>
          <a:prstGeom prst="rect">
            <a:avLst/>
          </a:prstGeom>
          <a:noFill/>
        </p:spPr>
        <p:txBody>
          <a:bodyPr wrap="none" lIns="0" rIns="0" tIns="0" bIns="0" anchor="t">
            <a:spAutoFit/>
          </a:bodyPr>
          <a:lstStyle/>
          <a:p>
            <a:pPr algn="l">
              <a:lnSpc>
                <a:spcPct val="100000"/>
              </a:lnSpc>
              <a:spcAft>
                <a:spcPts val="0"/>
              </a:spcAft>
            </a:pPr>
            <a:r>
              <a:rPr sz="1150" b="0">
                <a:solidFill>
                  <a:srgbClr val="5B6773"/>
                </a:solidFill>
                <a:latin typeface="Aptos"/>
              </a:rPr>
              <a:t>LLM consensus rows</a:t>
            </a:r>
            <a:br/>
            <a:r>
              <a:rPr sz="1150" b="0">
                <a:solidFill>
                  <a:srgbClr val="5B6773"/>
                </a:solidFill>
                <a:latin typeface="Aptos"/>
              </a:rPr>
              <a:t>122 eligible</a:t>
            </a:r>
          </a:p>
        </p:txBody>
      </p:sp>
      <p:sp>
        <p:nvSpPr>
          <p:cNvPr id="18" name="Rounded Rectangle 17"/>
          <p:cNvSpPr/>
          <p:nvPr/>
        </p:nvSpPr>
        <p:spPr>
          <a:xfrm>
            <a:off x="8595360" y="1600200"/>
            <a:ext cx="2468880" cy="1261872"/>
          </a:xfrm>
          <a:prstGeom prst="roundRect">
            <a:avLst>
              <a:gd name="adj" fmla="val 8000"/>
            </a:avLst>
          </a:prstGeom>
          <a:solidFill>
            <a:srgbClr val="EDF6FA"/>
          </a:solidFill>
          <a:ln>
            <a:solidFill>
              <a:srgbClr val="ED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95360" y="1600200"/>
            <a:ext cx="54864" cy="1261872"/>
          </a:xfrm>
          <a:prstGeom prst="roundRect">
            <a:avLst>
              <a:gd name="adj" fmla="val 8000"/>
            </a:avLst>
          </a:prstGeom>
          <a:solidFill>
            <a:srgbClr val="122B46"/>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14816" y="1755648"/>
            <a:ext cx="2121408" cy="384048"/>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25</a:t>
            </a:r>
          </a:p>
        </p:txBody>
      </p:sp>
      <p:sp>
        <p:nvSpPr>
          <p:cNvPr id="21" name="TextBox 20"/>
          <p:cNvSpPr txBox="1"/>
          <p:nvPr/>
        </p:nvSpPr>
        <p:spPr>
          <a:xfrm>
            <a:off x="8814816" y="2258568"/>
            <a:ext cx="2121408" cy="512064"/>
          </a:xfrm>
          <a:prstGeom prst="rect">
            <a:avLst/>
          </a:prstGeom>
          <a:noFill/>
        </p:spPr>
        <p:txBody>
          <a:bodyPr wrap="none" lIns="0" rIns="0" tIns="0" bIns="0" anchor="t">
            <a:spAutoFit/>
          </a:bodyPr>
          <a:lstStyle/>
          <a:p>
            <a:pPr algn="l">
              <a:lnSpc>
                <a:spcPct val="100000"/>
              </a:lnSpc>
              <a:spcAft>
                <a:spcPts val="0"/>
              </a:spcAft>
            </a:pPr>
            <a:r>
              <a:rPr sz="1150" b="0">
                <a:solidFill>
                  <a:srgbClr val="5B6773"/>
                </a:solidFill>
                <a:latin typeface="Aptos"/>
              </a:rPr>
              <a:t>evidence packs</a:t>
            </a:r>
            <a:br/>
            <a:r>
              <a:rPr sz="1150" b="0">
                <a:solidFill>
                  <a:srgbClr val="5B6773"/>
                </a:solidFill>
                <a:latin typeface="Aptos"/>
              </a:rPr>
              <a:t>+ decision cards</a:t>
            </a:r>
          </a:p>
        </p:txBody>
      </p:sp>
      <p:sp>
        <p:nvSpPr>
          <p:cNvPr id="22" name="Rounded Rectangle 21"/>
          <p:cNvSpPr/>
          <p:nvPr/>
        </p:nvSpPr>
        <p:spPr>
          <a:xfrm>
            <a:off x="694944" y="3246120"/>
            <a:ext cx="5138928" cy="2560320"/>
          </a:xfrm>
          <a:prstGeom prst="roundRect">
            <a:avLst>
              <a:gd name="adj" fmla="val 8000"/>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053328" y="3246120"/>
            <a:ext cx="5010912" cy="2560320"/>
          </a:xfrm>
          <a:prstGeom prst="roundRect">
            <a:avLst>
              <a:gd name="adj" fmla="val 8000"/>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520440"/>
            <a:ext cx="4389120" cy="274320"/>
          </a:xfrm>
          <a:prstGeom prst="rect">
            <a:avLst/>
          </a:prstGeom>
          <a:noFill/>
        </p:spPr>
        <p:txBody>
          <a:bodyPr wrap="none" lIns="0" rIns="0" tIns="0" bIns="0" anchor="t">
            <a:spAutoFit/>
          </a:bodyPr>
          <a:lstStyle/>
          <a:p>
            <a:pPr algn="l">
              <a:lnSpc>
                <a:spcPct val="100000"/>
              </a:lnSpc>
              <a:spcAft>
                <a:spcPts val="0"/>
              </a:spcAft>
            </a:pPr>
            <a:r>
              <a:rPr sz="1400" b="1">
                <a:solidFill>
                  <a:srgbClr val="122B46"/>
                </a:solidFill>
                <a:latin typeface="Aptos"/>
              </a:rPr>
              <a:t>Dữ liệu và mô hình</a:t>
            </a:r>
          </a:p>
        </p:txBody>
      </p:sp>
      <p:sp>
        <p:nvSpPr>
          <p:cNvPr id="25" name="TextBox 24"/>
          <p:cNvSpPr txBox="1"/>
          <p:nvPr/>
        </p:nvSpPr>
        <p:spPr>
          <a:xfrm>
            <a:off x="960120" y="3886200"/>
            <a:ext cx="4526280" cy="1691640"/>
          </a:xfrm>
          <a:prstGeom prst="rect">
            <a:avLst/>
          </a:prstGeom>
          <a:noFill/>
        </p:spPr>
        <p:txBody>
          <a:bodyPr wrap="none" lIns="36576" rIns="18288" tIns="18288" bIns="18288">
            <a:spAutoFit/>
          </a:bodyPr>
          <a:lstStyle/>
          <a:p>
            <a:pPr>
              <a:lnSpc>
                <a:spcPct val="108000"/>
              </a:lnSpc>
              <a:spcAft>
                <a:spcPts val="700"/>
              </a:spcAft>
              <a:defRPr sz="1300">
                <a:solidFill>
                  <a:srgbClr val="1C2630"/>
                </a:solidFill>
                <a:latin typeface="Aptos"/>
              </a:defRPr>
            </a:pPr>
            <a:r>
              <a:t>• Crawl và chuẩn hóa tin tức; ghép với giá và mã VN30.</a:t>
            </a:r>
          </a:p>
          <a:p>
            <a:pPr>
              <a:lnSpc>
                <a:spcPct val="108000"/>
              </a:lnSpc>
              <a:spcAft>
                <a:spcPts val="700"/>
              </a:spcAft>
              <a:defRPr sz="1300">
                <a:solidFill>
                  <a:srgbClr val="1C2630"/>
                </a:solidFill>
                <a:latin typeface="Aptos"/>
              </a:defRPr>
            </a:pPr>
            <a:r>
              <a:t>• Xây dựng đặc trưng kỹ thuật, kiểm định walk-forward có purge 20 phiên.</a:t>
            </a:r>
          </a:p>
          <a:p>
            <a:pPr>
              <a:lnSpc>
                <a:spcPct val="108000"/>
              </a:lnSpc>
              <a:spcAft>
                <a:spcPts val="700"/>
              </a:spcAft>
              <a:defRPr sz="1300">
                <a:solidFill>
                  <a:srgbClr val="1C2630"/>
                </a:solidFill>
                <a:latin typeface="Aptos"/>
              </a:defRPr>
            </a:pPr>
            <a:r>
              <a:t>• Xây dựng schema LLM: relevance, materiality, direction, event type, evidence span.</a:t>
            </a:r>
          </a:p>
        </p:txBody>
      </p:sp>
      <p:sp>
        <p:nvSpPr>
          <p:cNvPr id="26" name="TextBox 25"/>
          <p:cNvSpPr txBox="1"/>
          <p:nvPr/>
        </p:nvSpPr>
        <p:spPr>
          <a:xfrm>
            <a:off x="6318504" y="3520440"/>
            <a:ext cx="4251960" cy="274320"/>
          </a:xfrm>
          <a:prstGeom prst="rect">
            <a:avLst/>
          </a:prstGeom>
          <a:noFill/>
        </p:spPr>
        <p:txBody>
          <a:bodyPr wrap="none" lIns="0" rIns="0" tIns="0" bIns="0" anchor="t">
            <a:spAutoFit/>
          </a:bodyPr>
          <a:lstStyle/>
          <a:p>
            <a:pPr algn="l">
              <a:lnSpc>
                <a:spcPct val="100000"/>
              </a:lnSpc>
              <a:spcAft>
                <a:spcPts val="0"/>
              </a:spcAft>
            </a:pPr>
            <a:r>
              <a:rPr sz="1400" b="1">
                <a:solidFill>
                  <a:srgbClr val="122B46"/>
                </a:solidFill>
                <a:latin typeface="Aptos"/>
              </a:rPr>
              <a:t>LLM và sản phẩm hỗ trợ</a:t>
            </a:r>
          </a:p>
        </p:txBody>
      </p:sp>
      <p:sp>
        <p:nvSpPr>
          <p:cNvPr id="27" name="TextBox 26"/>
          <p:cNvSpPr txBox="1"/>
          <p:nvPr/>
        </p:nvSpPr>
        <p:spPr>
          <a:xfrm>
            <a:off x="6318504" y="3886200"/>
            <a:ext cx="4370832" cy="1691640"/>
          </a:xfrm>
          <a:prstGeom prst="rect">
            <a:avLst/>
          </a:prstGeom>
          <a:noFill/>
        </p:spPr>
        <p:txBody>
          <a:bodyPr wrap="none" lIns="36576" rIns="18288" tIns="18288" bIns="18288">
            <a:spAutoFit/>
          </a:bodyPr>
          <a:lstStyle/>
          <a:p>
            <a:pPr>
              <a:lnSpc>
                <a:spcPct val="108000"/>
              </a:lnSpc>
              <a:spcAft>
                <a:spcPts val="700"/>
              </a:spcAft>
              <a:defRPr sz="1300">
                <a:solidFill>
                  <a:srgbClr val="1C2630"/>
                </a:solidFill>
                <a:latin typeface="Aptos"/>
              </a:defRPr>
            </a:pPr>
            <a:r>
              <a:t>• Sinh consensus pseudo-label, kiểm tra agreement và QC thủ công.</a:t>
            </a:r>
          </a:p>
          <a:p>
            <a:pPr>
              <a:lnSpc>
                <a:spcPct val="108000"/>
              </a:lnSpc>
              <a:spcAft>
                <a:spcPts val="700"/>
              </a:spcAft>
              <a:defRPr sz="1300">
                <a:solidFill>
                  <a:srgbClr val="1C2630"/>
                </a:solidFill>
                <a:latin typeface="Aptos"/>
              </a:defRPr>
            </a:pPr>
            <a:r>
              <a:t>• Tạo evidence pack, decision card, monitoring timeline và dashboard prototype.</a:t>
            </a:r>
          </a:p>
          <a:p>
            <a:pPr>
              <a:lnSpc>
                <a:spcPct val="108000"/>
              </a:lnSpc>
              <a:spcAft>
                <a:spcPts val="700"/>
              </a:spcAft>
              <a:defRPr sz="1300">
                <a:solidFill>
                  <a:srgbClr val="1C2630"/>
                </a:solidFill>
                <a:latin typeface="Aptos"/>
              </a:defRPr>
            </a:pPr>
            <a:r>
              <a:t>• Theo dõi outcome tách biệt dữ liệu sẵn có tại thời điểm ra quyết định.</a:t>
            </a:r>
          </a:p>
        </p:txBody>
      </p:sp>
      <p:sp>
        <p:nvSpPr>
          <p:cNvPr id="28" name="Rectangle 27"/>
          <p:cNvSpPr/>
          <p:nvPr/>
        </p:nvSpPr>
        <p:spPr>
          <a:xfrm>
            <a:off x="658368" y="6455664"/>
            <a:ext cx="10872216" cy="9144"/>
          </a:xfrm>
          <a:prstGeom prst="rect">
            <a:avLst/>
          </a:prstGeom>
          <a:solidFill>
            <a:srgbClr val="D7DEE4"/>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6528816"/>
            <a:ext cx="9784080" cy="173736"/>
          </a:xfrm>
          <a:prstGeom prst="rect">
            <a:avLst/>
          </a:prstGeom>
          <a:noFill/>
        </p:spPr>
        <p:txBody>
          <a:bodyPr wrap="none" lIns="0" rIns="0" tIns="0" bIns="0" anchor="t">
            <a:spAutoFit/>
          </a:bodyPr>
          <a:lstStyle/>
          <a:p>
            <a:pPr algn="l">
              <a:lnSpc>
                <a:spcPct val="100000"/>
              </a:lnSpc>
              <a:spcAft>
                <a:spcPts val="0"/>
              </a:spcAft>
            </a:pPr>
            <a:r>
              <a:rPr sz="830" b="0">
                <a:solidFill>
                  <a:srgbClr val="5B6773"/>
                </a:solidFill>
                <a:latin typeface="Aptos"/>
              </a:rPr>
              <a:t>Nguồn: ket_qua_luan_van_semantic_news_materiality.md; decision-support generated summary</a:t>
            </a:r>
          </a:p>
        </p:txBody>
      </p:sp>
      <p:sp>
        <p:nvSpPr>
          <p:cNvPr id="30" name="TextBox 29"/>
          <p:cNvSpPr txBox="1"/>
          <p:nvPr/>
        </p:nvSpPr>
        <p:spPr>
          <a:xfrm>
            <a:off x="9921240" y="6528816"/>
            <a:ext cx="1609344" cy="173736"/>
          </a:xfrm>
          <a:prstGeom prst="rect">
            <a:avLst/>
          </a:prstGeom>
          <a:noFill/>
        </p:spPr>
        <p:txBody>
          <a:bodyPr wrap="none" lIns="0" rIns="0" tIns="0" bIns="0" anchor="t">
            <a:spAutoFit/>
          </a:bodyPr>
          <a:lstStyle/>
          <a:p>
            <a:pPr algn="r">
              <a:lnSpc>
                <a:spcPct val="100000"/>
              </a:lnSpc>
              <a:spcAft>
                <a:spcPts val="0"/>
              </a:spcAft>
            </a:pPr>
            <a:r>
              <a:rPr sz="830" b="0">
                <a:solidFill>
                  <a:srgbClr val="5B6773"/>
                </a:solidFill>
                <a:latin typeface="Aptos"/>
              </a:rPr>
              <a:t>KLTN | Cập nhật hướng nghiên cứu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7955279" cy="228600"/>
          </a:xfrm>
          <a:prstGeom prst="rect">
            <a:avLst/>
          </a:prstGeom>
          <a:noFill/>
        </p:spPr>
        <p:txBody>
          <a:bodyPr wrap="none" lIns="0" rIns="0" tIns="0" bIns="0" anchor="t">
            <a:spAutoFit/>
          </a:bodyPr>
          <a:lstStyle/>
          <a:p>
            <a:pPr algn="l">
              <a:lnSpc>
                <a:spcPct val="100000"/>
              </a:lnSpc>
              <a:spcAft>
                <a:spcPts val="0"/>
              </a:spcAft>
            </a:pPr>
            <a:r>
              <a:rPr sz="1000" b="1">
                <a:solidFill>
                  <a:srgbClr val="007076"/>
                </a:solidFill>
                <a:latin typeface="Aptos"/>
              </a:rPr>
              <a:t>BASELINE KEYWORD</a:t>
            </a:r>
          </a:p>
        </p:txBody>
      </p:sp>
      <p:sp>
        <p:nvSpPr>
          <p:cNvPr id="3" name="TextBox 2"/>
          <p:cNvSpPr txBox="1"/>
          <p:nvPr/>
        </p:nvSpPr>
        <p:spPr>
          <a:xfrm>
            <a:off x="658368" y="603504"/>
            <a:ext cx="10241280" cy="566928"/>
          </a:xfrm>
          <a:prstGeom prst="rect">
            <a:avLst/>
          </a:prstGeom>
          <a:noFill/>
        </p:spPr>
        <p:txBody>
          <a:bodyPr wrap="none" lIns="0" rIns="0" tIns="0" bIns="0" anchor="t">
            <a:spAutoFit/>
          </a:bodyPr>
          <a:lstStyle/>
          <a:p>
            <a:pPr algn="l">
              <a:lnSpc>
                <a:spcPct val="100000"/>
              </a:lnSpc>
              <a:spcAft>
                <a:spcPts val="0"/>
              </a:spcAft>
            </a:pPr>
            <a:r>
              <a:rPr sz="2700" b="1">
                <a:solidFill>
                  <a:srgbClr val="122B46"/>
                </a:solidFill>
                <a:latin typeface="Aptos"/>
              </a:rPr>
              <a:t>Keyword: kết quả phản biện, không phải tín hiệu chính</a:t>
            </a:r>
          </a:p>
        </p:txBody>
      </p:sp>
      <p:sp>
        <p:nvSpPr>
          <p:cNvPr id="4" name="Rectangle 3"/>
          <p:cNvSpPr/>
          <p:nvPr/>
        </p:nvSpPr>
        <p:spPr>
          <a:xfrm>
            <a:off x="658368" y="1252728"/>
            <a:ext cx="950976" cy="45720"/>
          </a:xfrm>
          <a:prstGeom prst="rect">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0816" y="356616"/>
            <a:ext cx="429768" cy="274320"/>
          </a:xfrm>
          <a:prstGeom prst="rect">
            <a:avLst/>
          </a:prstGeom>
          <a:noFill/>
        </p:spPr>
        <p:txBody>
          <a:bodyPr wrap="none" lIns="0" rIns="0" tIns="0" bIns="0" anchor="t">
            <a:spAutoFit/>
          </a:bodyPr>
          <a:lstStyle/>
          <a:p>
            <a:pPr algn="r">
              <a:lnSpc>
                <a:spcPct val="100000"/>
              </a:lnSpc>
              <a:spcAft>
                <a:spcPts val="0"/>
              </a:spcAft>
            </a:pPr>
            <a:r>
              <a:rPr sz="1100" b="1">
                <a:solidFill>
                  <a:srgbClr val="5B6773"/>
                </a:solidFill>
                <a:latin typeface="Aptos"/>
              </a:rPr>
              <a:t>03</a:t>
            </a:r>
          </a:p>
        </p:txBody>
      </p:sp>
      <p:sp>
        <p:nvSpPr>
          <p:cNvPr id="6" name="TextBox 5"/>
          <p:cNvSpPr txBox="1"/>
          <p:nvPr/>
        </p:nvSpPr>
        <p:spPr>
          <a:xfrm>
            <a:off x="658368" y="1481328"/>
            <a:ext cx="6035040" cy="420624"/>
          </a:xfrm>
          <a:prstGeom prst="rect">
            <a:avLst/>
          </a:prstGeom>
          <a:noFill/>
        </p:spPr>
        <p:txBody>
          <a:bodyPr wrap="none" lIns="0" rIns="0" tIns="0" bIns="0" anchor="t">
            <a:spAutoFit/>
          </a:bodyPr>
          <a:lstStyle/>
          <a:p>
            <a:pPr algn="l">
              <a:lnSpc>
                <a:spcPct val="100000"/>
              </a:lnSpc>
              <a:spcAft>
                <a:spcPts val="0"/>
              </a:spcAft>
            </a:pPr>
            <a:r>
              <a:rPr sz="1500" b="0">
                <a:solidFill>
                  <a:srgbClr val="1C2630"/>
                </a:solidFill>
                <a:latin typeface="Aptos"/>
              </a:rPr>
              <a:t>Keyword có ích để tạo baseline minh bạch. Nhưng rule-based không nắm được ngữ cảnh và materiality.</a:t>
            </a:r>
          </a:p>
        </p:txBody>
      </p:sp>
      <p:pic>
        <p:nvPicPr>
          <p:cNvPr id="7" name="Picture 6" descr="rule_vs_semantic_confusion.png"/>
          <p:cNvPicPr>
            <a:picLocks noChangeAspect="1"/>
          </p:cNvPicPr>
          <p:nvPr/>
        </p:nvPicPr>
        <p:blipFill>
          <a:blip r:embed="rId2"/>
          <a:stretch>
            <a:fillRect/>
          </a:stretch>
        </p:blipFill>
        <p:spPr>
          <a:xfrm>
            <a:off x="6601968" y="1389888"/>
            <a:ext cx="4818888" cy="4096512"/>
          </a:xfrm>
          <a:prstGeom prst="rect">
            <a:avLst/>
          </a:prstGeom>
        </p:spPr>
      </p:pic>
      <p:sp>
        <p:nvSpPr>
          <p:cNvPr id="8" name="Rectangle 7"/>
          <p:cNvSpPr/>
          <p:nvPr/>
        </p:nvSpPr>
        <p:spPr>
          <a:xfrm>
            <a:off x="694944" y="2240280"/>
            <a:ext cx="1901952" cy="411480"/>
          </a:xfrm>
          <a:prstGeom prst="rect">
            <a:avLst/>
          </a:prstGeom>
          <a:solidFill>
            <a:srgbClr val="122B46"/>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50008"/>
            <a:ext cx="1755648" cy="182880"/>
          </a:xfrm>
          <a:prstGeom prst="rect">
            <a:avLst/>
          </a:prstGeom>
          <a:noFill/>
        </p:spPr>
        <p:txBody>
          <a:bodyPr wrap="none" lIns="0" rIns="0" tIns="0" bIns="0" anchor="t">
            <a:spAutoFit/>
          </a:bodyPr>
          <a:lstStyle/>
          <a:p>
            <a:pPr algn="ctr">
              <a:lnSpc>
                <a:spcPct val="100000"/>
              </a:lnSpc>
              <a:spcAft>
                <a:spcPts val="0"/>
              </a:spcAft>
            </a:pPr>
            <a:r>
              <a:rPr sz="1050" b="1">
                <a:solidFill>
                  <a:srgbClr val="FFFFFF"/>
                </a:solidFill>
                <a:latin typeface="Aptos"/>
              </a:rPr>
              <a:t>Đại diện rule</a:t>
            </a:r>
          </a:p>
        </p:txBody>
      </p:sp>
      <p:sp>
        <p:nvSpPr>
          <p:cNvPr id="10" name="Rectangle 9"/>
          <p:cNvSpPr/>
          <p:nvPr/>
        </p:nvSpPr>
        <p:spPr>
          <a:xfrm>
            <a:off x="2596896" y="2240280"/>
            <a:ext cx="1078992" cy="411480"/>
          </a:xfrm>
          <a:prstGeom prst="rect">
            <a:avLst/>
          </a:prstGeom>
          <a:solidFill>
            <a:srgbClr val="122B46"/>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70048" y="2350008"/>
            <a:ext cx="932688" cy="182880"/>
          </a:xfrm>
          <a:prstGeom prst="rect">
            <a:avLst/>
          </a:prstGeom>
          <a:noFill/>
        </p:spPr>
        <p:txBody>
          <a:bodyPr wrap="none" lIns="0" rIns="0" tIns="0" bIns="0" anchor="t">
            <a:spAutoFit/>
          </a:bodyPr>
          <a:lstStyle/>
          <a:p>
            <a:pPr algn="ctr">
              <a:lnSpc>
                <a:spcPct val="100000"/>
              </a:lnSpc>
              <a:spcAft>
                <a:spcPts val="0"/>
              </a:spcAft>
            </a:pPr>
            <a:r>
              <a:rPr sz="1050" b="1">
                <a:solidFill>
                  <a:srgbClr val="FFFFFF"/>
                </a:solidFill>
                <a:latin typeface="Aptos"/>
              </a:rPr>
              <a:t>Accuracy</a:t>
            </a:r>
          </a:p>
        </p:txBody>
      </p:sp>
      <p:sp>
        <p:nvSpPr>
          <p:cNvPr id="12" name="Rectangle 11"/>
          <p:cNvSpPr/>
          <p:nvPr/>
        </p:nvSpPr>
        <p:spPr>
          <a:xfrm>
            <a:off x="3675888" y="2240280"/>
            <a:ext cx="1170432" cy="411480"/>
          </a:xfrm>
          <a:prstGeom prst="rect">
            <a:avLst/>
          </a:prstGeom>
          <a:solidFill>
            <a:srgbClr val="122B46"/>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2350008"/>
            <a:ext cx="1024128" cy="182880"/>
          </a:xfrm>
          <a:prstGeom prst="rect">
            <a:avLst/>
          </a:prstGeom>
          <a:noFill/>
        </p:spPr>
        <p:txBody>
          <a:bodyPr wrap="none" lIns="0" rIns="0" tIns="0" bIns="0" anchor="t">
            <a:spAutoFit/>
          </a:bodyPr>
          <a:lstStyle/>
          <a:p>
            <a:pPr algn="ctr">
              <a:lnSpc>
                <a:spcPct val="100000"/>
              </a:lnSpc>
              <a:spcAft>
                <a:spcPts val="0"/>
              </a:spcAft>
            </a:pPr>
            <a:r>
              <a:rPr sz="1050" b="1">
                <a:solidFill>
                  <a:srgbClr val="FFFFFF"/>
                </a:solidFill>
                <a:latin typeface="Aptos"/>
              </a:rPr>
              <a:t>Macro-F1</a:t>
            </a:r>
          </a:p>
        </p:txBody>
      </p:sp>
      <p:sp>
        <p:nvSpPr>
          <p:cNvPr id="14" name="Rectangle 13"/>
          <p:cNvSpPr/>
          <p:nvPr/>
        </p:nvSpPr>
        <p:spPr>
          <a:xfrm>
            <a:off x="694944" y="2651760"/>
            <a:ext cx="1901952" cy="438912"/>
          </a:xfrm>
          <a:prstGeom prst="rect">
            <a:avLst/>
          </a:prstGeom>
          <a:solidFill>
            <a:srgbClr val="EDF6FA"/>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779776"/>
            <a:ext cx="1755648" cy="164592"/>
          </a:xfrm>
          <a:prstGeom prst="rect">
            <a:avLst/>
          </a:prstGeom>
          <a:noFill/>
        </p:spPr>
        <p:txBody>
          <a:bodyPr wrap="none" lIns="0" rIns="0" tIns="0" bIns="0" anchor="t">
            <a:spAutoFit/>
          </a:bodyPr>
          <a:lstStyle/>
          <a:p>
            <a:pPr algn="ctr">
              <a:lnSpc>
                <a:spcPct val="100000"/>
              </a:lnSpc>
              <a:spcAft>
                <a:spcPts val="0"/>
              </a:spcAft>
            </a:pPr>
            <a:r>
              <a:rPr sz="1050" b="0">
                <a:solidFill>
                  <a:srgbClr val="1C2630"/>
                </a:solidFill>
                <a:latin typeface="Aptos"/>
              </a:rPr>
              <a:t>Direction</a:t>
            </a:r>
          </a:p>
        </p:txBody>
      </p:sp>
      <p:sp>
        <p:nvSpPr>
          <p:cNvPr id="16" name="Rectangle 15"/>
          <p:cNvSpPr/>
          <p:nvPr/>
        </p:nvSpPr>
        <p:spPr>
          <a:xfrm>
            <a:off x="2596896" y="2651760"/>
            <a:ext cx="1078992" cy="438912"/>
          </a:xfrm>
          <a:prstGeom prst="rect">
            <a:avLst/>
          </a:prstGeom>
          <a:solidFill>
            <a:srgbClr val="EDF6FA"/>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70048" y="2779776"/>
            <a:ext cx="93268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37,7%</a:t>
            </a:r>
          </a:p>
        </p:txBody>
      </p:sp>
      <p:sp>
        <p:nvSpPr>
          <p:cNvPr id="18" name="Rectangle 17"/>
          <p:cNvSpPr/>
          <p:nvPr/>
        </p:nvSpPr>
        <p:spPr>
          <a:xfrm>
            <a:off x="3675888" y="2651760"/>
            <a:ext cx="1170432" cy="438912"/>
          </a:xfrm>
          <a:prstGeom prst="rect">
            <a:avLst/>
          </a:prstGeom>
          <a:solidFill>
            <a:srgbClr val="EDF6FA"/>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2779776"/>
            <a:ext cx="102412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22,8%</a:t>
            </a:r>
          </a:p>
        </p:txBody>
      </p:sp>
      <p:sp>
        <p:nvSpPr>
          <p:cNvPr id="20" name="Rectangle 19"/>
          <p:cNvSpPr/>
          <p:nvPr/>
        </p:nvSpPr>
        <p:spPr>
          <a:xfrm>
            <a:off x="694944" y="3090672"/>
            <a:ext cx="1901952" cy="438912"/>
          </a:xfrm>
          <a:prstGeom prst="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218688"/>
            <a:ext cx="1755648" cy="164592"/>
          </a:xfrm>
          <a:prstGeom prst="rect">
            <a:avLst/>
          </a:prstGeom>
          <a:noFill/>
        </p:spPr>
        <p:txBody>
          <a:bodyPr wrap="none" lIns="0" rIns="0" tIns="0" bIns="0" anchor="t">
            <a:spAutoFit/>
          </a:bodyPr>
          <a:lstStyle/>
          <a:p>
            <a:pPr algn="ctr">
              <a:lnSpc>
                <a:spcPct val="100000"/>
              </a:lnSpc>
              <a:spcAft>
                <a:spcPts val="0"/>
              </a:spcAft>
            </a:pPr>
            <a:r>
              <a:rPr sz="1050" b="0">
                <a:solidFill>
                  <a:srgbClr val="1C2630"/>
                </a:solidFill>
                <a:latin typeface="Aptos"/>
              </a:rPr>
              <a:t>Event type</a:t>
            </a:r>
          </a:p>
        </p:txBody>
      </p:sp>
      <p:sp>
        <p:nvSpPr>
          <p:cNvPr id="22" name="Rectangle 21"/>
          <p:cNvSpPr/>
          <p:nvPr/>
        </p:nvSpPr>
        <p:spPr>
          <a:xfrm>
            <a:off x="2596896" y="3090672"/>
            <a:ext cx="1078992" cy="438912"/>
          </a:xfrm>
          <a:prstGeom prst="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70048" y="3218688"/>
            <a:ext cx="93268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14,8%</a:t>
            </a:r>
          </a:p>
        </p:txBody>
      </p:sp>
      <p:sp>
        <p:nvSpPr>
          <p:cNvPr id="24" name="Rectangle 23"/>
          <p:cNvSpPr/>
          <p:nvPr/>
        </p:nvSpPr>
        <p:spPr>
          <a:xfrm>
            <a:off x="3675888" y="3090672"/>
            <a:ext cx="1170432" cy="438912"/>
          </a:xfrm>
          <a:prstGeom prst="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0" y="3218688"/>
            <a:ext cx="102412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8,7%</a:t>
            </a:r>
          </a:p>
        </p:txBody>
      </p:sp>
      <p:sp>
        <p:nvSpPr>
          <p:cNvPr id="26" name="Rectangle 25"/>
          <p:cNvSpPr/>
          <p:nvPr/>
        </p:nvSpPr>
        <p:spPr>
          <a:xfrm>
            <a:off x="694944" y="3529584"/>
            <a:ext cx="1901952" cy="438912"/>
          </a:xfrm>
          <a:prstGeom prst="rect">
            <a:avLst/>
          </a:prstGeom>
          <a:solidFill>
            <a:srgbClr val="EDF6FA"/>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657600"/>
            <a:ext cx="1755648" cy="164592"/>
          </a:xfrm>
          <a:prstGeom prst="rect">
            <a:avLst/>
          </a:prstGeom>
          <a:noFill/>
        </p:spPr>
        <p:txBody>
          <a:bodyPr wrap="none" lIns="0" rIns="0" tIns="0" bIns="0" anchor="t">
            <a:spAutoFit/>
          </a:bodyPr>
          <a:lstStyle/>
          <a:p>
            <a:pPr algn="ctr">
              <a:lnSpc>
                <a:spcPct val="100000"/>
              </a:lnSpc>
              <a:spcAft>
                <a:spcPts val="0"/>
              </a:spcAft>
            </a:pPr>
            <a:r>
              <a:rPr sz="1050" b="0">
                <a:solidFill>
                  <a:srgbClr val="1C2630"/>
                </a:solidFill>
                <a:latin typeface="Aptos"/>
              </a:rPr>
              <a:t>Materiality</a:t>
            </a:r>
          </a:p>
        </p:txBody>
      </p:sp>
      <p:sp>
        <p:nvSpPr>
          <p:cNvPr id="28" name="Rectangle 27"/>
          <p:cNvSpPr/>
          <p:nvPr/>
        </p:nvSpPr>
        <p:spPr>
          <a:xfrm>
            <a:off x="2596896" y="3529584"/>
            <a:ext cx="1078992" cy="438912"/>
          </a:xfrm>
          <a:prstGeom prst="rect">
            <a:avLst/>
          </a:prstGeom>
          <a:solidFill>
            <a:srgbClr val="EDF6FA"/>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70048" y="3657600"/>
            <a:ext cx="93268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22,1%</a:t>
            </a:r>
          </a:p>
        </p:txBody>
      </p:sp>
      <p:sp>
        <p:nvSpPr>
          <p:cNvPr id="30" name="Rectangle 29"/>
          <p:cNvSpPr/>
          <p:nvPr/>
        </p:nvSpPr>
        <p:spPr>
          <a:xfrm>
            <a:off x="3675888" y="3529584"/>
            <a:ext cx="1170432" cy="438912"/>
          </a:xfrm>
          <a:prstGeom prst="rect">
            <a:avLst/>
          </a:prstGeom>
          <a:solidFill>
            <a:srgbClr val="EDF6FA"/>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0" y="3657600"/>
            <a:ext cx="102412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15,9%</a:t>
            </a:r>
          </a:p>
        </p:txBody>
      </p:sp>
      <p:sp>
        <p:nvSpPr>
          <p:cNvPr id="32" name="Rectangle 31"/>
          <p:cNvSpPr/>
          <p:nvPr/>
        </p:nvSpPr>
        <p:spPr>
          <a:xfrm>
            <a:off x="694944" y="3968496"/>
            <a:ext cx="1901952" cy="438912"/>
          </a:xfrm>
          <a:prstGeom prst="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4096512"/>
            <a:ext cx="1755648" cy="164592"/>
          </a:xfrm>
          <a:prstGeom prst="rect">
            <a:avLst/>
          </a:prstGeom>
          <a:noFill/>
        </p:spPr>
        <p:txBody>
          <a:bodyPr wrap="none" lIns="0" rIns="0" tIns="0" bIns="0" anchor="t">
            <a:spAutoFit/>
          </a:bodyPr>
          <a:lstStyle/>
          <a:p>
            <a:pPr algn="ctr">
              <a:lnSpc>
                <a:spcPct val="100000"/>
              </a:lnSpc>
              <a:spcAft>
                <a:spcPts val="0"/>
              </a:spcAft>
            </a:pPr>
            <a:r>
              <a:rPr sz="1050" b="0">
                <a:solidFill>
                  <a:srgbClr val="1C2630"/>
                </a:solidFill>
                <a:latin typeface="Aptos"/>
              </a:rPr>
              <a:t>Ticker relevance</a:t>
            </a:r>
          </a:p>
        </p:txBody>
      </p:sp>
      <p:sp>
        <p:nvSpPr>
          <p:cNvPr id="34" name="Rectangle 33"/>
          <p:cNvSpPr/>
          <p:nvPr/>
        </p:nvSpPr>
        <p:spPr>
          <a:xfrm>
            <a:off x="2596896" y="3968496"/>
            <a:ext cx="1078992" cy="438912"/>
          </a:xfrm>
          <a:prstGeom prst="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70048" y="4096512"/>
            <a:ext cx="93268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68,9%</a:t>
            </a:r>
          </a:p>
        </p:txBody>
      </p:sp>
      <p:sp>
        <p:nvSpPr>
          <p:cNvPr id="36" name="Rectangle 35"/>
          <p:cNvSpPr/>
          <p:nvPr/>
        </p:nvSpPr>
        <p:spPr>
          <a:xfrm>
            <a:off x="3675888" y="3968496"/>
            <a:ext cx="1170432" cy="438912"/>
          </a:xfrm>
          <a:prstGeom prst="rect">
            <a:avLst/>
          </a:prstGeom>
          <a:solidFill>
            <a:srgbClr val="FFFFFF"/>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49040" y="4096512"/>
            <a:ext cx="1024128" cy="164592"/>
          </a:xfrm>
          <a:prstGeom prst="rect">
            <a:avLst/>
          </a:prstGeom>
          <a:noFill/>
        </p:spPr>
        <p:txBody>
          <a:bodyPr wrap="none" lIns="0" rIns="0" tIns="0" bIns="0" anchor="t">
            <a:spAutoFit/>
          </a:bodyPr>
          <a:lstStyle/>
          <a:p>
            <a:pPr algn="ctr">
              <a:lnSpc>
                <a:spcPct val="100000"/>
              </a:lnSpc>
              <a:spcAft>
                <a:spcPts val="0"/>
              </a:spcAft>
            </a:pPr>
            <a:r>
              <a:rPr sz="1050" b="1">
                <a:solidFill>
                  <a:srgbClr val="1C2630"/>
                </a:solidFill>
                <a:latin typeface="Aptos"/>
              </a:rPr>
              <a:t>20,9%</a:t>
            </a:r>
          </a:p>
        </p:txBody>
      </p:sp>
      <p:sp>
        <p:nvSpPr>
          <p:cNvPr id="38" name="Rounded Rectangle 37"/>
          <p:cNvSpPr/>
          <p:nvPr/>
        </p:nvSpPr>
        <p:spPr>
          <a:xfrm>
            <a:off x="694944" y="4315968"/>
            <a:ext cx="5330952" cy="1097280"/>
          </a:xfrm>
          <a:prstGeom prst="roundRect">
            <a:avLst>
              <a:gd name="adj" fmla="val 8000"/>
            </a:avLst>
          </a:prstGeom>
          <a:solidFill>
            <a:srgbClr val="FCF6EA"/>
          </a:solidFill>
          <a:ln>
            <a:solidFill>
              <a:srgbClr val="FCF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 y="4526280"/>
            <a:ext cx="1828800" cy="201168"/>
          </a:xfrm>
          <a:prstGeom prst="rect">
            <a:avLst/>
          </a:prstGeom>
          <a:noFill/>
        </p:spPr>
        <p:txBody>
          <a:bodyPr wrap="none" lIns="0" rIns="0" tIns="0" bIns="0" anchor="t">
            <a:spAutoFit/>
          </a:bodyPr>
          <a:lstStyle/>
          <a:p>
            <a:pPr algn="l">
              <a:lnSpc>
                <a:spcPct val="100000"/>
              </a:lnSpc>
              <a:spcAft>
                <a:spcPts val="0"/>
              </a:spcAft>
            </a:pPr>
            <a:r>
              <a:rPr sz="1200" b="1">
                <a:solidFill>
                  <a:srgbClr val="C4751B"/>
                </a:solidFill>
                <a:latin typeface="Aptos"/>
              </a:rPr>
              <a:t>Nguyên nhân chính</a:t>
            </a:r>
          </a:p>
        </p:txBody>
      </p:sp>
      <p:sp>
        <p:nvSpPr>
          <p:cNvPr id="40" name="TextBox 39"/>
          <p:cNvSpPr txBox="1"/>
          <p:nvPr/>
        </p:nvSpPr>
        <p:spPr>
          <a:xfrm>
            <a:off x="932688" y="4828032"/>
            <a:ext cx="4754880" cy="338328"/>
          </a:xfrm>
          <a:prstGeom prst="rect">
            <a:avLst/>
          </a:prstGeom>
          <a:noFill/>
        </p:spPr>
        <p:txBody>
          <a:bodyPr wrap="none" lIns="0" rIns="0" tIns="0" bIns="0" anchor="t">
            <a:spAutoFit/>
          </a:bodyPr>
          <a:lstStyle/>
          <a:p>
            <a:pPr algn="l">
              <a:lnSpc>
                <a:spcPct val="100000"/>
              </a:lnSpc>
              <a:spcAft>
                <a:spcPts val="0"/>
              </a:spcAft>
            </a:pPr>
            <a:r>
              <a:rPr sz="1200" b="0">
                <a:solidFill>
                  <a:srgbClr val="1C2630"/>
                </a:solidFill>
                <a:latin typeface="Aptos"/>
              </a:rPr>
              <a:t>Thiếu context/materiality • ticker mismatch • tin thị trường chung • boilerplate • mixed direction</a:t>
            </a:r>
          </a:p>
        </p:txBody>
      </p:sp>
      <p:sp>
        <p:nvSpPr>
          <p:cNvPr id="41" name="TextBox 40"/>
          <p:cNvSpPr txBox="1"/>
          <p:nvPr/>
        </p:nvSpPr>
        <p:spPr>
          <a:xfrm>
            <a:off x="658368" y="5715000"/>
            <a:ext cx="10058400" cy="320040"/>
          </a:xfrm>
          <a:prstGeom prst="rect">
            <a:avLst/>
          </a:prstGeom>
          <a:noFill/>
        </p:spPr>
        <p:txBody>
          <a:bodyPr wrap="none" lIns="0" rIns="0" tIns="0" bIns="0" anchor="t">
            <a:spAutoFit/>
          </a:bodyPr>
          <a:lstStyle/>
          <a:p>
            <a:pPr algn="l">
              <a:lnSpc>
                <a:spcPct val="100000"/>
              </a:lnSpc>
              <a:spcAft>
                <a:spcPts val="0"/>
              </a:spcAft>
            </a:pPr>
            <a:r>
              <a:rPr sz="1400" b="1">
                <a:solidFill>
                  <a:srgbClr val="122B46"/>
                </a:solidFill>
                <a:latin typeface="Aptos"/>
              </a:rPr>
              <a:t>Kết luận: giữ keyword như baseline phản biện; không dùng làm hướng đóng góp chính.</a:t>
            </a:r>
          </a:p>
        </p:txBody>
      </p:sp>
      <p:sp>
        <p:nvSpPr>
          <p:cNvPr id="42" name="Rectangle 41"/>
          <p:cNvSpPr/>
          <p:nvPr/>
        </p:nvSpPr>
        <p:spPr>
          <a:xfrm>
            <a:off x="658368" y="6455664"/>
            <a:ext cx="10872216" cy="9144"/>
          </a:xfrm>
          <a:prstGeom prst="rect">
            <a:avLst/>
          </a:prstGeom>
          <a:solidFill>
            <a:srgbClr val="D7DEE4"/>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6528816"/>
            <a:ext cx="9784080" cy="173736"/>
          </a:xfrm>
          <a:prstGeom prst="rect">
            <a:avLst/>
          </a:prstGeom>
          <a:noFill/>
        </p:spPr>
        <p:txBody>
          <a:bodyPr wrap="none" lIns="0" rIns="0" tIns="0" bIns="0" anchor="t">
            <a:spAutoFit/>
          </a:bodyPr>
          <a:lstStyle/>
          <a:p>
            <a:pPr algn="l">
              <a:lnSpc>
                <a:spcPct val="100000"/>
              </a:lnSpc>
              <a:spcAft>
                <a:spcPts val="0"/>
              </a:spcAft>
            </a:pPr>
            <a:r>
              <a:rPr sz="830" b="0">
                <a:solidFill>
                  <a:srgbClr val="5B6773"/>
                </a:solidFill>
                <a:latin typeface="Aptos"/>
              </a:rPr>
              <a:t>Nguồn: ket_qua_luan_van_semantic_news_materiality.md — rule vs semantic, n=122</a:t>
            </a:r>
          </a:p>
        </p:txBody>
      </p:sp>
      <p:sp>
        <p:nvSpPr>
          <p:cNvPr id="44" name="TextBox 43"/>
          <p:cNvSpPr txBox="1"/>
          <p:nvPr/>
        </p:nvSpPr>
        <p:spPr>
          <a:xfrm>
            <a:off x="9921240" y="6528816"/>
            <a:ext cx="1609344" cy="173736"/>
          </a:xfrm>
          <a:prstGeom prst="rect">
            <a:avLst/>
          </a:prstGeom>
          <a:noFill/>
        </p:spPr>
        <p:txBody>
          <a:bodyPr wrap="none" lIns="0" rIns="0" tIns="0" bIns="0" anchor="t">
            <a:spAutoFit/>
          </a:bodyPr>
          <a:lstStyle/>
          <a:p>
            <a:pPr algn="r">
              <a:lnSpc>
                <a:spcPct val="100000"/>
              </a:lnSpc>
              <a:spcAft>
                <a:spcPts val="0"/>
              </a:spcAft>
            </a:pPr>
            <a:r>
              <a:rPr sz="830" b="0">
                <a:solidFill>
                  <a:srgbClr val="5B6773"/>
                </a:solidFill>
                <a:latin typeface="Aptos"/>
              </a:rPr>
              <a:t>KLTN | Cập nhật hướng nghiên cứu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7955279" cy="228600"/>
          </a:xfrm>
          <a:prstGeom prst="rect">
            <a:avLst/>
          </a:prstGeom>
          <a:noFill/>
        </p:spPr>
        <p:txBody>
          <a:bodyPr wrap="none" lIns="0" rIns="0" tIns="0" bIns="0" anchor="t">
            <a:spAutoFit/>
          </a:bodyPr>
          <a:lstStyle/>
          <a:p>
            <a:pPr algn="l">
              <a:lnSpc>
                <a:spcPct val="100000"/>
              </a:lnSpc>
              <a:spcAft>
                <a:spcPts val="0"/>
              </a:spcAft>
            </a:pPr>
            <a:r>
              <a:rPr sz="1000" b="1">
                <a:solidFill>
                  <a:srgbClr val="007076"/>
                </a:solidFill>
                <a:latin typeface="Aptos"/>
              </a:rPr>
              <a:t>SEMANTIC EVIDENCE EXTRACTION</a:t>
            </a:r>
          </a:p>
        </p:txBody>
      </p:sp>
      <p:sp>
        <p:nvSpPr>
          <p:cNvPr id="3" name="TextBox 2"/>
          <p:cNvSpPr txBox="1"/>
          <p:nvPr/>
        </p:nvSpPr>
        <p:spPr>
          <a:xfrm>
            <a:off x="658368" y="603504"/>
            <a:ext cx="10241280" cy="566928"/>
          </a:xfrm>
          <a:prstGeom prst="rect">
            <a:avLst/>
          </a:prstGeom>
          <a:noFill/>
        </p:spPr>
        <p:txBody>
          <a:bodyPr wrap="none" lIns="0" rIns="0" tIns="0" bIns="0" anchor="t">
            <a:spAutoFit/>
          </a:bodyPr>
          <a:lstStyle/>
          <a:p>
            <a:pPr algn="l">
              <a:lnSpc>
                <a:spcPct val="100000"/>
              </a:lnSpc>
              <a:spcAft>
                <a:spcPts val="0"/>
              </a:spcAft>
            </a:pPr>
            <a:r>
              <a:rPr sz="2700" b="1">
                <a:solidFill>
                  <a:srgbClr val="122B46"/>
                </a:solidFill>
                <a:latin typeface="Aptos"/>
              </a:rPr>
              <a:t>LLM nâng cấp biểu diễn tin tức thành bằng chứng</a:t>
            </a:r>
          </a:p>
        </p:txBody>
      </p:sp>
      <p:sp>
        <p:nvSpPr>
          <p:cNvPr id="4" name="Rectangle 3"/>
          <p:cNvSpPr/>
          <p:nvPr/>
        </p:nvSpPr>
        <p:spPr>
          <a:xfrm>
            <a:off x="658368" y="1252728"/>
            <a:ext cx="950976" cy="45720"/>
          </a:xfrm>
          <a:prstGeom prst="rect">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0816" y="356616"/>
            <a:ext cx="429768" cy="274320"/>
          </a:xfrm>
          <a:prstGeom prst="rect">
            <a:avLst/>
          </a:prstGeom>
          <a:noFill/>
        </p:spPr>
        <p:txBody>
          <a:bodyPr wrap="none" lIns="0" rIns="0" tIns="0" bIns="0" anchor="t">
            <a:spAutoFit/>
          </a:bodyPr>
          <a:lstStyle/>
          <a:p>
            <a:pPr algn="r">
              <a:lnSpc>
                <a:spcPct val="100000"/>
              </a:lnSpc>
              <a:spcAft>
                <a:spcPts val="0"/>
              </a:spcAft>
            </a:pPr>
            <a:r>
              <a:rPr sz="1100" b="1">
                <a:solidFill>
                  <a:srgbClr val="5B6773"/>
                </a:solidFill>
                <a:latin typeface="Aptos"/>
              </a:rPr>
              <a:t>04</a:t>
            </a:r>
          </a:p>
        </p:txBody>
      </p:sp>
      <p:sp>
        <p:nvSpPr>
          <p:cNvPr id="6" name="TextBox 5"/>
          <p:cNvSpPr txBox="1"/>
          <p:nvPr/>
        </p:nvSpPr>
        <p:spPr>
          <a:xfrm>
            <a:off x="658368" y="1444752"/>
            <a:ext cx="5669280" cy="347472"/>
          </a:xfrm>
          <a:prstGeom prst="rect">
            <a:avLst/>
          </a:prstGeom>
          <a:noFill/>
        </p:spPr>
        <p:txBody>
          <a:bodyPr wrap="none" lIns="0" rIns="0" tIns="0" bIns="0" anchor="t">
            <a:spAutoFit/>
          </a:bodyPr>
          <a:lstStyle/>
          <a:p>
            <a:pPr algn="l">
              <a:lnSpc>
                <a:spcPct val="100000"/>
              </a:lnSpc>
              <a:spcAft>
                <a:spcPts val="0"/>
              </a:spcAft>
            </a:pPr>
            <a:r>
              <a:rPr sz="1500" b="0">
                <a:solidFill>
                  <a:srgbClr val="1C2630"/>
                </a:solidFill>
                <a:latin typeface="Aptos"/>
              </a:rPr>
              <a:t>Thay vì đếm từ, LLM trích xuất cấu trúc và câu bằng chứng có thể truy vết.</a:t>
            </a:r>
          </a:p>
        </p:txBody>
      </p:sp>
      <p:sp>
        <p:nvSpPr>
          <p:cNvPr id="7" name="Rounded Rectangle 6"/>
          <p:cNvSpPr/>
          <p:nvPr/>
        </p:nvSpPr>
        <p:spPr>
          <a:xfrm>
            <a:off x="694944" y="1938528"/>
            <a:ext cx="1965960" cy="438912"/>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66544"/>
            <a:ext cx="1645920" cy="164592"/>
          </a:xfrm>
          <a:prstGeom prst="rect">
            <a:avLst/>
          </a:prstGeom>
          <a:noFill/>
        </p:spPr>
        <p:txBody>
          <a:bodyPr wrap="none" lIns="0" rIns="0" tIns="0" bIns="0" anchor="t">
            <a:spAutoFit/>
          </a:bodyPr>
          <a:lstStyle/>
          <a:p>
            <a:pPr algn="ctr">
              <a:lnSpc>
                <a:spcPct val="100000"/>
              </a:lnSpc>
              <a:spcAft>
                <a:spcPts val="0"/>
              </a:spcAft>
            </a:pPr>
            <a:r>
              <a:rPr sz="1100" b="1">
                <a:solidFill>
                  <a:srgbClr val="007076"/>
                </a:solidFill>
                <a:latin typeface="Aptos"/>
              </a:rPr>
              <a:t>Ticker relevance</a:t>
            </a:r>
          </a:p>
        </p:txBody>
      </p:sp>
      <p:sp>
        <p:nvSpPr>
          <p:cNvPr id="9" name="TextBox 8"/>
          <p:cNvSpPr txBox="1"/>
          <p:nvPr/>
        </p:nvSpPr>
        <p:spPr>
          <a:xfrm>
            <a:off x="2898648" y="2048256"/>
            <a:ext cx="3127248" cy="228600"/>
          </a:xfrm>
          <a:prstGeom prst="rect">
            <a:avLst/>
          </a:prstGeom>
          <a:noFill/>
        </p:spPr>
        <p:txBody>
          <a:bodyPr wrap="none" lIns="0" rIns="0" tIns="0" bIns="0" anchor="t">
            <a:spAutoFit/>
          </a:bodyPr>
          <a:lstStyle/>
          <a:p>
            <a:pPr algn="l">
              <a:lnSpc>
                <a:spcPct val="100000"/>
              </a:lnSpc>
              <a:spcAft>
                <a:spcPts val="0"/>
              </a:spcAft>
            </a:pPr>
            <a:r>
              <a:rPr sz="1250" b="0">
                <a:solidFill>
                  <a:srgbClr val="1C2630"/>
                </a:solidFill>
                <a:latin typeface="Aptos"/>
              </a:rPr>
              <a:t>Tin có liên quan trực tiếp đến mã?</a:t>
            </a:r>
          </a:p>
        </p:txBody>
      </p:sp>
      <p:sp>
        <p:nvSpPr>
          <p:cNvPr id="10" name="Rounded Rectangle 9"/>
          <p:cNvSpPr/>
          <p:nvPr/>
        </p:nvSpPr>
        <p:spPr>
          <a:xfrm>
            <a:off x="694944" y="2542032"/>
            <a:ext cx="1965960" cy="438912"/>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70048"/>
            <a:ext cx="1645920" cy="164592"/>
          </a:xfrm>
          <a:prstGeom prst="rect">
            <a:avLst/>
          </a:prstGeom>
          <a:noFill/>
        </p:spPr>
        <p:txBody>
          <a:bodyPr wrap="none" lIns="0" rIns="0" tIns="0" bIns="0" anchor="t">
            <a:spAutoFit/>
          </a:bodyPr>
          <a:lstStyle/>
          <a:p>
            <a:pPr algn="ctr">
              <a:lnSpc>
                <a:spcPct val="100000"/>
              </a:lnSpc>
              <a:spcAft>
                <a:spcPts val="0"/>
              </a:spcAft>
            </a:pPr>
            <a:r>
              <a:rPr sz="1100" b="1">
                <a:solidFill>
                  <a:srgbClr val="007076"/>
                </a:solidFill>
                <a:latin typeface="Aptos"/>
              </a:rPr>
              <a:t>Materiality</a:t>
            </a:r>
          </a:p>
        </p:txBody>
      </p:sp>
      <p:sp>
        <p:nvSpPr>
          <p:cNvPr id="12" name="TextBox 11"/>
          <p:cNvSpPr txBox="1"/>
          <p:nvPr/>
        </p:nvSpPr>
        <p:spPr>
          <a:xfrm>
            <a:off x="2898648" y="2651760"/>
            <a:ext cx="3127248" cy="228600"/>
          </a:xfrm>
          <a:prstGeom prst="rect">
            <a:avLst/>
          </a:prstGeom>
          <a:noFill/>
        </p:spPr>
        <p:txBody>
          <a:bodyPr wrap="none" lIns="0" rIns="0" tIns="0" bIns="0" anchor="t">
            <a:spAutoFit/>
          </a:bodyPr>
          <a:lstStyle/>
          <a:p>
            <a:pPr algn="l">
              <a:lnSpc>
                <a:spcPct val="100000"/>
              </a:lnSpc>
              <a:spcAft>
                <a:spcPts val="0"/>
              </a:spcAft>
            </a:pPr>
            <a:r>
              <a:rPr sz="1250" b="0">
                <a:solidFill>
                  <a:srgbClr val="1C2630"/>
                </a:solidFill>
                <a:latin typeface="Aptos"/>
              </a:rPr>
              <a:t>Mức độ trọng yếu của thông tin?</a:t>
            </a:r>
          </a:p>
        </p:txBody>
      </p:sp>
      <p:sp>
        <p:nvSpPr>
          <p:cNvPr id="13" name="Rounded Rectangle 12"/>
          <p:cNvSpPr/>
          <p:nvPr/>
        </p:nvSpPr>
        <p:spPr>
          <a:xfrm>
            <a:off x="694944" y="3145536"/>
            <a:ext cx="1965960" cy="438912"/>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273552"/>
            <a:ext cx="1645920" cy="164592"/>
          </a:xfrm>
          <a:prstGeom prst="rect">
            <a:avLst/>
          </a:prstGeom>
          <a:noFill/>
        </p:spPr>
        <p:txBody>
          <a:bodyPr wrap="none" lIns="0" rIns="0" tIns="0" bIns="0" anchor="t">
            <a:spAutoFit/>
          </a:bodyPr>
          <a:lstStyle/>
          <a:p>
            <a:pPr algn="ctr">
              <a:lnSpc>
                <a:spcPct val="100000"/>
              </a:lnSpc>
              <a:spcAft>
                <a:spcPts val="0"/>
              </a:spcAft>
            </a:pPr>
            <a:r>
              <a:rPr sz="1100" b="1">
                <a:solidFill>
                  <a:srgbClr val="007076"/>
                </a:solidFill>
                <a:latin typeface="Aptos"/>
              </a:rPr>
              <a:t>Direction</a:t>
            </a:r>
          </a:p>
        </p:txBody>
      </p:sp>
      <p:sp>
        <p:nvSpPr>
          <p:cNvPr id="15" name="TextBox 14"/>
          <p:cNvSpPr txBox="1"/>
          <p:nvPr/>
        </p:nvSpPr>
        <p:spPr>
          <a:xfrm>
            <a:off x="2898648" y="3255264"/>
            <a:ext cx="3127248" cy="228600"/>
          </a:xfrm>
          <a:prstGeom prst="rect">
            <a:avLst/>
          </a:prstGeom>
          <a:noFill/>
        </p:spPr>
        <p:txBody>
          <a:bodyPr wrap="none" lIns="0" rIns="0" tIns="0" bIns="0" anchor="t">
            <a:spAutoFit/>
          </a:bodyPr>
          <a:lstStyle/>
          <a:p>
            <a:pPr algn="l">
              <a:lnSpc>
                <a:spcPct val="100000"/>
              </a:lnSpc>
              <a:spcAft>
                <a:spcPts val="0"/>
              </a:spcAft>
            </a:pPr>
            <a:r>
              <a:rPr sz="1250" b="0">
                <a:solidFill>
                  <a:srgbClr val="1C2630"/>
                </a:solidFill>
                <a:latin typeface="Aptos"/>
              </a:rPr>
              <a:t>Tác động support / risk / neutral?</a:t>
            </a:r>
          </a:p>
        </p:txBody>
      </p:sp>
      <p:sp>
        <p:nvSpPr>
          <p:cNvPr id="16" name="Rounded Rectangle 15"/>
          <p:cNvSpPr/>
          <p:nvPr/>
        </p:nvSpPr>
        <p:spPr>
          <a:xfrm>
            <a:off x="694944" y="3749039"/>
            <a:ext cx="1965960" cy="438912"/>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77055"/>
            <a:ext cx="1645920" cy="164592"/>
          </a:xfrm>
          <a:prstGeom prst="rect">
            <a:avLst/>
          </a:prstGeom>
          <a:noFill/>
        </p:spPr>
        <p:txBody>
          <a:bodyPr wrap="none" lIns="0" rIns="0" tIns="0" bIns="0" anchor="t">
            <a:spAutoFit/>
          </a:bodyPr>
          <a:lstStyle/>
          <a:p>
            <a:pPr algn="ctr">
              <a:lnSpc>
                <a:spcPct val="100000"/>
              </a:lnSpc>
              <a:spcAft>
                <a:spcPts val="0"/>
              </a:spcAft>
            </a:pPr>
            <a:r>
              <a:rPr sz="1100" b="1">
                <a:solidFill>
                  <a:srgbClr val="007076"/>
                </a:solidFill>
                <a:latin typeface="Aptos"/>
              </a:rPr>
              <a:t>Event type</a:t>
            </a:r>
          </a:p>
        </p:txBody>
      </p:sp>
      <p:sp>
        <p:nvSpPr>
          <p:cNvPr id="18" name="TextBox 17"/>
          <p:cNvSpPr txBox="1"/>
          <p:nvPr/>
        </p:nvSpPr>
        <p:spPr>
          <a:xfrm>
            <a:off x="2898648" y="3858767"/>
            <a:ext cx="3127248" cy="228600"/>
          </a:xfrm>
          <a:prstGeom prst="rect">
            <a:avLst/>
          </a:prstGeom>
          <a:noFill/>
        </p:spPr>
        <p:txBody>
          <a:bodyPr wrap="none" lIns="0" rIns="0" tIns="0" bIns="0" anchor="t">
            <a:spAutoFit/>
          </a:bodyPr>
          <a:lstStyle/>
          <a:p>
            <a:pPr algn="l">
              <a:lnSpc>
                <a:spcPct val="100000"/>
              </a:lnSpc>
              <a:spcAft>
                <a:spcPts val="0"/>
              </a:spcAft>
            </a:pPr>
            <a:r>
              <a:rPr sz="1250" b="0">
                <a:solidFill>
                  <a:srgbClr val="1C2630"/>
                </a:solidFill>
                <a:latin typeface="Aptos"/>
              </a:rPr>
              <a:t>Sự kiện nào đang diễn ra?</a:t>
            </a:r>
          </a:p>
        </p:txBody>
      </p:sp>
      <p:sp>
        <p:nvSpPr>
          <p:cNvPr id="19" name="Rounded Rectangle 18"/>
          <p:cNvSpPr/>
          <p:nvPr/>
        </p:nvSpPr>
        <p:spPr>
          <a:xfrm>
            <a:off x="694944" y="4352544"/>
            <a:ext cx="1965960" cy="438912"/>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80560"/>
            <a:ext cx="1645920" cy="164592"/>
          </a:xfrm>
          <a:prstGeom prst="rect">
            <a:avLst/>
          </a:prstGeom>
          <a:noFill/>
        </p:spPr>
        <p:txBody>
          <a:bodyPr wrap="none" lIns="0" rIns="0" tIns="0" bIns="0" anchor="t">
            <a:spAutoFit/>
          </a:bodyPr>
          <a:lstStyle/>
          <a:p>
            <a:pPr algn="ctr">
              <a:lnSpc>
                <a:spcPct val="100000"/>
              </a:lnSpc>
              <a:spcAft>
                <a:spcPts val="0"/>
              </a:spcAft>
            </a:pPr>
            <a:r>
              <a:rPr sz="1100" b="1">
                <a:solidFill>
                  <a:srgbClr val="007076"/>
                </a:solidFill>
                <a:latin typeface="Aptos"/>
              </a:rPr>
              <a:t>Evidence span</a:t>
            </a:r>
          </a:p>
        </p:txBody>
      </p:sp>
      <p:sp>
        <p:nvSpPr>
          <p:cNvPr id="21" name="TextBox 20"/>
          <p:cNvSpPr txBox="1"/>
          <p:nvPr/>
        </p:nvSpPr>
        <p:spPr>
          <a:xfrm>
            <a:off x="2898648" y="4462272"/>
            <a:ext cx="3127248" cy="228600"/>
          </a:xfrm>
          <a:prstGeom prst="rect">
            <a:avLst/>
          </a:prstGeom>
          <a:noFill/>
        </p:spPr>
        <p:txBody>
          <a:bodyPr wrap="none" lIns="0" rIns="0" tIns="0" bIns="0" anchor="t">
            <a:spAutoFit/>
          </a:bodyPr>
          <a:lstStyle/>
          <a:p>
            <a:pPr algn="l">
              <a:lnSpc>
                <a:spcPct val="100000"/>
              </a:lnSpc>
              <a:spcAft>
                <a:spcPts val="0"/>
              </a:spcAft>
            </a:pPr>
            <a:r>
              <a:rPr sz="1250" b="0">
                <a:solidFill>
                  <a:srgbClr val="1C2630"/>
                </a:solidFill>
                <a:latin typeface="Aptos"/>
              </a:rPr>
              <a:t>Câu nào chứng minh nhãn?</a:t>
            </a:r>
          </a:p>
        </p:txBody>
      </p:sp>
      <p:pic>
        <p:nvPicPr>
          <p:cNvPr id="22" name="Picture 21" descr="agreement_heatmap.png"/>
          <p:cNvPicPr>
            <a:picLocks noChangeAspect="1"/>
          </p:cNvPicPr>
          <p:nvPr/>
        </p:nvPicPr>
        <p:blipFill>
          <a:blip r:embed="rId2"/>
          <a:stretch>
            <a:fillRect/>
          </a:stretch>
        </p:blipFill>
        <p:spPr>
          <a:xfrm>
            <a:off x="6455664" y="1490472"/>
            <a:ext cx="4416552" cy="4069080"/>
          </a:xfrm>
          <a:prstGeom prst="rect">
            <a:avLst/>
          </a:prstGeom>
        </p:spPr>
      </p:pic>
      <p:sp>
        <p:nvSpPr>
          <p:cNvPr id="23" name="Rounded Rectangle 22"/>
          <p:cNvSpPr/>
          <p:nvPr/>
        </p:nvSpPr>
        <p:spPr>
          <a:xfrm>
            <a:off x="6400800" y="5532120"/>
            <a:ext cx="1463040" cy="612648"/>
          </a:xfrm>
          <a:prstGeom prst="roundRect">
            <a:avLst>
              <a:gd name="adj" fmla="val 8000"/>
            </a:avLst>
          </a:prstGeom>
          <a:solidFill>
            <a:srgbClr val="EDF6FA"/>
          </a:solidFill>
          <a:ln>
            <a:solidFill>
              <a:srgbClr val="ED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5532120"/>
            <a:ext cx="54864" cy="612648"/>
          </a:xfrm>
          <a:prstGeom prst="roundRect">
            <a:avLst>
              <a:gd name="adj" fmla="val 8000"/>
            </a:avLst>
          </a:prstGeom>
          <a:solidFill>
            <a:srgbClr val="122B46"/>
          </a:solidFill>
          <a:ln>
            <a:solidFill>
              <a:srgbClr val="12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0256" y="5687568"/>
            <a:ext cx="1115568" cy="384048"/>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150</a:t>
            </a:r>
          </a:p>
        </p:txBody>
      </p:sp>
      <p:sp>
        <p:nvSpPr>
          <p:cNvPr id="26" name="TextBox 25"/>
          <p:cNvSpPr txBox="1"/>
          <p:nvPr/>
        </p:nvSpPr>
        <p:spPr>
          <a:xfrm>
            <a:off x="6620256" y="6190488"/>
            <a:ext cx="1115568" cy="-137160"/>
          </a:xfrm>
          <a:prstGeom prst="rect">
            <a:avLst/>
          </a:prstGeom>
          <a:noFill/>
        </p:spPr>
        <p:txBody>
          <a:bodyPr wrap="none" lIns="0" rIns="0" tIns="0" bIns="0" anchor="t">
            <a:spAutoFit/>
          </a:bodyPr>
          <a:lstStyle/>
          <a:p>
            <a:pPr algn="l">
              <a:lnSpc>
                <a:spcPct val="100000"/>
              </a:lnSpc>
              <a:spcAft>
                <a:spcPts val="0"/>
              </a:spcAft>
            </a:pPr>
            <a:r>
              <a:rPr sz="1150" b="0">
                <a:solidFill>
                  <a:srgbClr val="5B6773"/>
                </a:solidFill>
                <a:latin typeface="Aptos"/>
              </a:rPr>
              <a:t>consensus rows</a:t>
            </a:r>
          </a:p>
        </p:txBody>
      </p:sp>
      <p:sp>
        <p:nvSpPr>
          <p:cNvPr id="27" name="Rounded Rectangle 26"/>
          <p:cNvSpPr/>
          <p:nvPr/>
        </p:nvSpPr>
        <p:spPr>
          <a:xfrm>
            <a:off x="8028431" y="5532120"/>
            <a:ext cx="1463040" cy="612648"/>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28431" y="5532120"/>
            <a:ext cx="54864" cy="612648"/>
          </a:xfrm>
          <a:prstGeom prst="roundRect">
            <a:avLst>
              <a:gd name="adj" fmla="val 8000"/>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7" y="5687568"/>
            <a:ext cx="1115568" cy="384048"/>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122</a:t>
            </a:r>
          </a:p>
        </p:txBody>
      </p:sp>
      <p:sp>
        <p:nvSpPr>
          <p:cNvPr id="30" name="TextBox 29"/>
          <p:cNvSpPr txBox="1"/>
          <p:nvPr/>
        </p:nvSpPr>
        <p:spPr>
          <a:xfrm>
            <a:off x="8247887" y="6190488"/>
            <a:ext cx="1115568" cy="-137160"/>
          </a:xfrm>
          <a:prstGeom prst="rect">
            <a:avLst/>
          </a:prstGeom>
          <a:noFill/>
        </p:spPr>
        <p:txBody>
          <a:bodyPr wrap="none" lIns="0" rIns="0" tIns="0" bIns="0" anchor="t">
            <a:spAutoFit/>
          </a:bodyPr>
          <a:lstStyle/>
          <a:p>
            <a:pPr algn="l">
              <a:lnSpc>
                <a:spcPct val="100000"/>
              </a:lnSpc>
              <a:spcAft>
                <a:spcPts val="0"/>
              </a:spcAft>
            </a:pPr>
            <a:r>
              <a:rPr sz="1150" b="0">
                <a:solidFill>
                  <a:srgbClr val="5B6773"/>
                </a:solidFill>
                <a:latin typeface="Aptos"/>
              </a:rPr>
              <a:t>eligible rows</a:t>
            </a:r>
          </a:p>
        </p:txBody>
      </p:sp>
      <p:sp>
        <p:nvSpPr>
          <p:cNvPr id="31" name="Rounded Rectangle 30"/>
          <p:cNvSpPr/>
          <p:nvPr/>
        </p:nvSpPr>
        <p:spPr>
          <a:xfrm>
            <a:off x="9656064" y="5532120"/>
            <a:ext cx="1463040" cy="612648"/>
          </a:xfrm>
          <a:prstGeom prst="roundRect">
            <a:avLst>
              <a:gd name="adj" fmla="val 8000"/>
            </a:avLst>
          </a:prstGeom>
          <a:solidFill>
            <a:srgbClr val="FCF6EA"/>
          </a:solidFill>
          <a:ln>
            <a:solidFill>
              <a:srgbClr val="FCF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56064" y="5532120"/>
            <a:ext cx="54864" cy="612648"/>
          </a:xfrm>
          <a:prstGeom prst="roundRect">
            <a:avLst>
              <a:gd name="adj" fmla="val 8000"/>
            </a:avLst>
          </a:prstGeom>
          <a:solidFill>
            <a:srgbClr val="C4751B"/>
          </a:solidFill>
          <a:ln>
            <a:solidFill>
              <a:srgbClr val="C47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0" y="5687568"/>
            <a:ext cx="1115568" cy="384048"/>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0,84</a:t>
            </a:r>
          </a:p>
        </p:txBody>
      </p:sp>
      <p:sp>
        <p:nvSpPr>
          <p:cNvPr id="34" name="TextBox 33"/>
          <p:cNvSpPr txBox="1"/>
          <p:nvPr/>
        </p:nvSpPr>
        <p:spPr>
          <a:xfrm>
            <a:off x="9875520" y="6190488"/>
            <a:ext cx="1115568" cy="-137160"/>
          </a:xfrm>
          <a:prstGeom prst="rect">
            <a:avLst/>
          </a:prstGeom>
          <a:noFill/>
        </p:spPr>
        <p:txBody>
          <a:bodyPr wrap="none" lIns="0" rIns="0" tIns="0" bIns="0" anchor="t">
            <a:spAutoFit/>
          </a:bodyPr>
          <a:lstStyle/>
          <a:p>
            <a:pPr algn="l">
              <a:lnSpc>
                <a:spcPct val="100000"/>
              </a:lnSpc>
              <a:spcAft>
                <a:spcPts val="0"/>
              </a:spcAft>
            </a:pPr>
            <a:r>
              <a:rPr sz="1150" b="0">
                <a:solidFill>
                  <a:srgbClr val="5B6773"/>
                </a:solidFill>
                <a:latin typeface="Aptos"/>
              </a:rPr>
              <a:t>mean agreement</a:t>
            </a:r>
          </a:p>
        </p:txBody>
      </p:sp>
      <p:sp>
        <p:nvSpPr>
          <p:cNvPr id="35" name="TextBox 34"/>
          <p:cNvSpPr txBox="1"/>
          <p:nvPr/>
        </p:nvSpPr>
        <p:spPr>
          <a:xfrm>
            <a:off x="658368" y="5907024"/>
            <a:ext cx="5394960" cy="237744"/>
          </a:xfrm>
          <a:prstGeom prst="rect">
            <a:avLst/>
          </a:prstGeom>
          <a:noFill/>
        </p:spPr>
        <p:txBody>
          <a:bodyPr wrap="none" lIns="0" rIns="0" tIns="0" bIns="0" anchor="t">
            <a:spAutoFit/>
          </a:bodyPr>
          <a:lstStyle/>
          <a:p>
            <a:pPr algn="l">
              <a:lnSpc>
                <a:spcPct val="100000"/>
              </a:lnSpc>
              <a:spcAft>
                <a:spcPts val="0"/>
              </a:spcAft>
            </a:pPr>
            <a:r>
              <a:rPr sz="1070" b="0">
                <a:solidFill>
                  <a:srgbClr val="5B6773"/>
                </a:solidFill>
                <a:latin typeface="Aptos"/>
              </a:rPr>
              <a:t>Lưu ý: consensus là pseudo-label, không phải human ground truth.</a:t>
            </a:r>
          </a:p>
        </p:txBody>
      </p:sp>
      <p:sp>
        <p:nvSpPr>
          <p:cNvPr id="36" name="Rectangle 35"/>
          <p:cNvSpPr/>
          <p:nvPr/>
        </p:nvSpPr>
        <p:spPr>
          <a:xfrm>
            <a:off x="658368" y="6455664"/>
            <a:ext cx="10872216" cy="9144"/>
          </a:xfrm>
          <a:prstGeom prst="rect">
            <a:avLst/>
          </a:prstGeom>
          <a:solidFill>
            <a:srgbClr val="D7DEE4"/>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6528816"/>
            <a:ext cx="9784080" cy="173736"/>
          </a:xfrm>
          <a:prstGeom prst="rect">
            <a:avLst/>
          </a:prstGeom>
          <a:noFill/>
        </p:spPr>
        <p:txBody>
          <a:bodyPr wrap="none" lIns="0" rIns="0" tIns="0" bIns="0" anchor="t">
            <a:spAutoFit/>
          </a:bodyPr>
          <a:lstStyle/>
          <a:p>
            <a:pPr algn="l">
              <a:lnSpc>
                <a:spcPct val="100000"/>
              </a:lnSpc>
              <a:spcAft>
                <a:spcPts val="0"/>
              </a:spcAft>
            </a:pPr>
            <a:r>
              <a:rPr sz="830" b="0">
                <a:solidFill>
                  <a:srgbClr val="5B6773"/>
                </a:solidFill>
                <a:latin typeface="Aptos"/>
              </a:rPr>
              <a:t>Nguồn: ket_qua_luan_van_semantic_news_materiality.md — sections pseudo-label, agreement, manual QC</a:t>
            </a:r>
          </a:p>
        </p:txBody>
      </p:sp>
      <p:sp>
        <p:nvSpPr>
          <p:cNvPr id="38" name="TextBox 37"/>
          <p:cNvSpPr txBox="1"/>
          <p:nvPr/>
        </p:nvSpPr>
        <p:spPr>
          <a:xfrm>
            <a:off x="9921240" y="6528816"/>
            <a:ext cx="1609344" cy="173736"/>
          </a:xfrm>
          <a:prstGeom prst="rect">
            <a:avLst/>
          </a:prstGeom>
          <a:noFill/>
        </p:spPr>
        <p:txBody>
          <a:bodyPr wrap="none" lIns="0" rIns="0" tIns="0" bIns="0" anchor="t">
            <a:spAutoFit/>
          </a:bodyPr>
          <a:lstStyle/>
          <a:p>
            <a:pPr algn="r">
              <a:lnSpc>
                <a:spcPct val="100000"/>
              </a:lnSpc>
              <a:spcAft>
                <a:spcPts val="0"/>
              </a:spcAft>
            </a:pPr>
            <a:r>
              <a:rPr sz="830" b="0">
                <a:solidFill>
                  <a:srgbClr val="5B6773"/>
                </a:solidFill>
                <a:latin typeface="Aptos"/>
              </a:rPr>
              <a:t>KLTN | Cập nhật hướng nghiên cứu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7955279" cy="228600"/>
          </a:xfrm>
          <a:prstGeom prst="rect">
            <a:avLst/>
          </a:prstGeom>
          <a:noFill/>
        </p:spPr>
        <p:txBody>
          <a:bodyPr wrap="none" lIns="0" rIns="0" tIns="0" bIns="0" anchor="t">
            <a:spAutoFit/>
          </a:bodyPr>
          <a:lstStyle/>
          <a:p>
            <a:pPr algn="l">
              <a:lnSpc>
                <a:spcPct val="100000"/>
              </a:lnSpc>
              <a:spcAft>
                <a:spcPts val="0"/>
              </a:spcAft>
            </a:pPr>
            <a:r>
              <a:rPr sz="1000" b="1">
                <a:solidFill>
                  <a:srgbClr val="007076"/>
                </a:solidFill>
                <a:latin typeface="Aptos"/>
              </a:rPr>
              <a:t>KẾT QUẢ VÀ GIỚI HẠN</a:t>
            </a:r>
          </a:p>
        </p:txBody>
      </p:sp>
      <p:sp>
        <p:nvSpPr>
          <p:cNvPr id="3" name="TextBox 2"/>
          <p:cNvSpPr txBox="1"/>
          <p:nvPr/>
        </p:nvSpPr>
        <p:spPr>
          <a:xfrm>
            <a:off x="658368" y="603504"/>
            <a:ext cx="10241280" cy="566928"/>
          </a:xfrm>
          <a:prstGeom prst="rect">
            <a:avLst/>
          </a:prstGeom>
          <a:noFill/>
        </p:spPr>
        <p:txBody>
          <a:bodyPr wrap="none" lIns="0" rIns="0" tIns="0" bIns="0" anchor="t">
            <a:spAutoFit/>
          </a:bodyPr>
          <a:lstStyle/>
          <a:p>
            <a:pPr algn="l">
              <a:lnSpc>
                <a:spcPct val="100000"/>
              </a:lnSpc>
              <a:spcAft>
                <a:spcPts val="0"/>
              </a:spcAft>
            </a:pPr>
            <a:r>
              <a:rPr sz="2700" b="1">
                <a:solidFill>
                  <a:srgbClr val="122B46"/>
                </a:solidFill>
                <a:latin typeface="Aptos"/>
              </a:rPr>
              <a:t>Kết quả thực nghiệm: có tín hiệu ban đầu, claim có kiểm soát</a:t>
            </a:r>
          </a:p>
        </p:txBody>
      </p:sp>
      <p:sp>
        <p:nvSpPr>
          <p:cNvPr id="4" name="Rectangle 3"/>
          <p:cNvSpPr/>
          <p:nvPr/>
        </p:nvSpPr>
        <p:spPr>
          <a:xfrm>
            <a:off x="658368" y="1252728"/>
            <a:ext cx="950976" cy="45720"/>
          </a:xfrm>
          <a:prstGeom prst="rect">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0816" y="356616"/>
            <a:ext cx="429768" cy="274320"/>
          </a:xfrm>
          <a:prstGeom prst="rect">
            <a:avLst/>
          </a:prstGeom>
          <a:noFill/>
        </p:spPr>
        <p:txBody>
          <a:bodyPr wrap="none" lIns="0" rIns="0" tIns="0" bIns="0" anchor="t">
            <a:spAutoFit/>
          </a:bodyPr>
          <a:lstStyle/>
          <a:p>
            <a:pPr algn="r">
              <a:lnSpc>
                <a:spcPct val="100000"/>
              </a:lnSpc>
              <a:spcAft>
                <a:spcPts val="0"/>
              </a:spcAft>
            </a:pPr>
            <a:r>
              <a:rPr sz="1100" b="1">
                <a:solidFill>
                  <a:srgbClr val="5B6773"/>
                </a:solidFill>
                <a:latin typeface="Aptos"/>
              </a:rPr>
              <a:t>05</a:t>
            </a:r>
          </a:p>
        </p:txBody>
      </p:sp>
      <p:pic>
        <p:nvPicPr>
          <p:cNvPr id="6" name="Picture 5" descr="event_window_adjusted_returns.png"/>
          <p:cNvPicPr>
            <a:picLocks noChangeAspect="1"/>
          </p:cNvPicPr>
          <p:nvPr/>
        </p:nvPicPr>
        <p:blipFill>
          <a:blip r:embed="rId2"/>
          <a:stretch>
            <a:fillRect/>
          </a:stretch>
        </p:blipFill>
        <p:spPr>
          <a:xfrm>
            <a:off x="694944" y="1444752"/>
            <a:ext cx="5687568" cy="3310128"/>
          </a:xfrm>
          <a:prstGeom prst="rect">
            <a:avLst/>
          </a:prstGeom>
        </p:spPr>
      </p:pic>
      <p:sp>
        <p:nvSpPr>
          <p:cNvPr id="7" name="Rounded Rectangle 6"/>
          <p:cNvSpPr/>
          <p:nvPr/>
        </p:nvSpPr>
        <p:spPr>
          <a:xfrm>
            <a:off x="6675120" y="1463040"/>
            <a:ext cx="4407408" cy="1261872"/>
          </a:xfrm>
          <a:prstGeom prst="roundRect">
            <a:avLst>
              <a:gd name="adj" fmla="val 8000"/>
            </a:avLst>
          </a:prstGeom>
          <a:solidFill>
            <a:srgbClr val="E8F6F4"/>
          </a:solidFill>
          <a:ln>
            <a:solidFill>
              <a:srgbClr val="E8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31152" y="1700784"/>
            <a:ext cx="3474720" cy="219456"/>
          </a:xfrm>
          <a:prstGeom prst="rect">
            <a:avLst/>
          </a:prstGeom>
          <a:noFill/>
        </p:spPr>
        <p:txBody>
          <a:bodyPr wrap="none" lIns="0" rIns="0" tIns="0" bIns="0" anchor="t">
            <a:spAutoFit/>
          </a:bodyPr>
          <a:lstStyle/>
          <a:p>
            <a:pPr algn="l">
              <a:lnSpc>
                <a:spcPct val="100000"/>
              </a:lnSpc>
              <a:spcAft>
                <a:spcPts val="0"/>
              </a:spcAft>
            </a:pPr>
            <a:r>
              <a:rPr sz="1250" b="1">
                <a:solidFill>
                  <a:srgbClr val="007076"/>
                </a:solidFill>
                <a:latin typeface="Aptos"/>
              </a:rPr>
              <a:t>Event-window exploratory</a:t>
            </a:r>
          </a:p>
        </p:txBody>
      </p:sp>
      <p:sp>
        <p:nvSpPr>
          <p:cNvPr id="9" name="TextBox 8"/>
          <p:cNvSpPr txBox="1"/>
          <p:nvPr/>
        </p:nvSpPr>
        <p:spPr>
          <a:xfrm>
            <a:off x="6931152" y="2002536"/>
            <a:ext cx="1051560" cy="347472"/>
          </a:xfrm>
          <a:prstGeom prst="rect">
            <a:avLst/>
          </a:prstGeom>
          <a:noFill/>
        </p:spPr>
        <p:txBody>
          <a:bodyPr wrap="none" lIns="0" rIns="0" tIns="0" bIns="0" anchor="t">
            <a:spAutoFit/>
          </a:bodyPr>
          <a:lstStyle/>
          <a:p>
            <a:pPr algn="l">
              <a:lnSpc>
                <a:spcPct val="100000"/>
              </a:lnSpc>
              <a:spcAft>
                <a:spcPts val="0"/>
              </a:spcAft>
            </a:pPr>
            <a:r>
              <a:rPr sz="2500" b="1">
                <a:solidFill>
                  <a:srgbClr val="122B46"/>
                </a:solidFill>
                <a:latin typeface="Aptos"/>
              </a:rPr>
              <a:t>1 / 8</a:t>
            </a:r>
          </a:p>
        </p:txBody>
      </p:sp>
      <p:sp>
        <p:nvSpPr>
          <p:cNvPr id="10" name="TextBox 9"/>
          <p:cNvSpPr txBox="1"/>
          <p:nvPr/>
        </p:nvSpPr>
        <p:spPr>
          <a:xfrm>
            <a:off x="7964424" y="1993392"/>
            <a:ext cx="2743200" cy="402336"/>
          </a:xfrm>
          <a:prstGeom prst="rect">
            <a:avLst/>
          </a:prstGeom>
          <a:noFill/>
        </p:spPr>
        <p:txBody>
          <a:bodyPr wrap="none" lIns="0" rIns="0" tIns="0" bIns="0" anchor="t">
            <a:spAutoFit/>
          </a:bodyPr>
          <a:lstStyle/>
          <a:p>
            <a:pPr algn="l">
              <a:lnSpc>
                <a:spcPct val="100000"/>
              </a:lnSpc>
              <a:spcAft>
                <a:spcPts val="0"/>
              </a:spcAft>
            </a:pPr>
            <a:r>
              <a:rPr sz="1060" b="0">
                <a:solidFill>
                  <a:srgbClr val="1C2630"/>
                </a:solidFill>
                <a:latin typeface="Aptos"/>
              </a:rPr>
              <a:t>test robust-positive sau BH-FDR; materiality cao/trung bình vs thấp tại T+5: +2,23% adjusted return.</a:t>
            </a:r>
          </a:p>
        </p:txBody>
      </p:sp>
      <p:sp>
        <p:nvSpPr>
          <p:cNvPr id="11" name="Rounded Rectangle 10"/>
          <p:cNvSpPr/>
          <p:nvPr/>
        </p:nvSpPr>
        <p:spPr>
          <a:xfrm>
            <a:off x="6675120" y="2898648"/>
            <a:ext cx="4407408" cy="1261872"/>
          </a:xfrm>
          <a:prstGeom prst="roundRect">
            <a:avLst>
              <a:gd name="adj" fmla="val 8000"/>
            </a:avLst>
          </a:prstGeom>
          <a:solidFill>
            <a:srgbClr val="EDF6FA"/>
          </a:solidFill>
          <a:ln>
            <a:solidFill>
              <a:srgbClr val="ED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31152" y="3136392"/>
            <a:ext cx="3474720" cy="219456"/>
          </a:xfrm>
          <a:prstGeom prst="rect">
            <a:avLst/>
          </a:prstGeom>
          <a:noFill/>
        </p:spPr>
        <p:txBody>
          <a:bodyPr wrap="none" lIns="0" rIns="0" tIns="0" bIns="0" anchor="t">
            <a:spAutoFit/>
          </a:bodyPr>
          <a:lstStyle/>
          <a:p>
            <a:pPr algn="l">
              <a:lnSpc>
                <a:spcPct val="100000"/>
              </a:lnSpc>
              <a:spcAft>
                <a:spcPts val="0"/>
              </a:spcAft>
            </a:pPr>
            <a:r>
              <a:rPr sz="1250" b="1">
                <a:solidFill>
                  <a:srgbClr val="122B46"/>
                </a:solidFill>
                <a:latin typeface="Aptos"/>
              </a:rPr>
              <a:t>Technical + semantic ML</a:t>
            </a:r>
          </a:p>
        </p:txBody>
      </p:sp>
      <p:sp>
        <p:nvSpPr>
          <p:cNvPr id="13" name="TextBox 12"/>
          <p:cNvSpPr txBox="1"/>
          <p:nvPr/>
        </p:nvSpPr>
        <p:spPr>
          <a:xfrm>
            <a:off x="6931152" y="3438144"/>
            <a:ext cx="1234440" cy="347472"/>
          </a:xfrm>
          <a:prstGeom prst="rect">
            <a:avLst/>
          </a:prstGeom>
          <a:noFill/>
        </p:spPr>
        <p:txBody>
          <a:bodyPr wrap="none" lIns="0" rIns="0" tIns="0" bIns="0" anchor="t">
            <a:spAutoFit/>
          </a:bodyPr>
          <a:lstStyle/>
          <a:p>
            <a:pPr algn="l">
              <a:lnSpc>
                <a:spcPct val="100000"/>
              </a:lnSpc>
              <a:spcAft>
                <a:spcPts val="0"/>
              </a:spcAft>
            </a:pPr>
            <a:r>
              <a:rPr sz="2200" b="1">
                <a:solidFill>
                  <a:srgbClr val="122B46"/>
                </a:solidFill>
                <a:latin typeface="Aptos"/>
              </a:rPr>
              <a:t>3 folds</a:t>
            </a:r>
          </a:p>
        </p:txBody>
      </p:sp>
      <p:sp>
        <p:nvSpPr>
          <p:cNvPr id="14" name="TextBox 13"/>
          <p:cNvSpPr txBox="1"/>
          <p:nvPr/>
        </p:nvSpPr>
        <p:spPr>
          <a:xfrm>
            <a:off x="8046720" y="3410712"/>
            <a:ext cx="2688336" cy="438912"/>
          </a:xfrm>
          <a:prstGeom prst="rect">
            <a:avLst/>
          </a:prstGeom>
          <a:noFill/>
        </p:spPr>
        <p:txBody>
          <a:bodyPr wrap="none" lIns="0" rIns="0" tIns="0" bIns="0" anchor="t">
            <a:spAutoFit/>
          </a:bodyPr>
          <a:lstStyle/>
          <a:p>
            <a:pPr algn="l">
              <a:lnSpc>
                <a:spcPct val="100000"/>
              </a:lnSpc>
              <a:spcAft>
                <a:spcPts val="0"/>
              </a:spcAft>
            </a:pPr>
            <a:r>
              <a:rPr sz="1060" b="0">
                <a:solidFill>
                  <a:srgbClr val="1C2630"/>
                </a:solidFill>
                <a:latin typeface="Aptos"/>
              </a:rPr>
              <a:t>685.704 dự báo OOS, purge 20 phiên. AUC/BA gần 0,5; chưa có bằng chứng lọc cổ phiếu hữu ích ổn định.</a:t>
            </a:r>
          </a:p>
        </p:txBody>
      </p:sp>
      <p:sp>
        <p:nvSpPr>
          <p:cNvPr id="15" name="Rounded Rectangle 14"/>
          <p:cNvSpPr/>
          <p:nvPr/>
        </p:nvSpPr>
        <p:spPr>
          <a:xfrm>
            <a:off x="6675120" y="4334256"/>
            <a:ext cx="4407408" cy="1005840"/>
          </a:xfrm>
          <a:prstGeom prst="roundRect">
            <a:avLst>
              <a:gd name="adj" fmla="val 8000"/>
            </a:avLst>
          </a:prstGeom>
          <a:solidFill>
            <a:srgbClr val="FCF6EA"/>
          </a:solidFill>
          <a:ln>
            <a:solidFill>
              <a:srgbClr val="FCF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4553712"/>
            <a:ext cx="3291840" cy="182880"/>
          </a:xfrm>
          <a:prstGeom prst="rect">
            <a:avLst/>
          </a:prstGeom>
          <a:noFill/>
        </p:spPr>
        <p:txBody>
          <a:bodyPr wrap="none" lIns="0" rIns="0" tIns="0" bIns="0" anchor="t">
            <a:spAutoFit/>
          </a:bodyPr>
          <a:lstStyle/>
          <a:p>
            <a:pPr algn="l">
              <a:lnSpc>
                <a:spcPct val="100000"/>
              </a:lnSpc>
              <a:spcAft>
                <a:spcPts val="0"/>
              </a:spcAft>
            </a:pPr>
            <a:r>
              <a:rPr sz="1250" b="1">
                <a:solidFill>
                  <a:srgbClr val="C4751B"/>
                </a:solidFill>
                <a:latin typeface="Aptos"/>
              </a:rPr>
              <a:t>Kỷ luật diễn giải</a:t>
            </a:r>
          </a:p>
        </p:txBody>
      </p:sp>
      <p:sp>
        <p:nvSpPr>
          <p:cNvPr id="17" name="TextBox 16"/>
          <p:cNvSpPr txBox="1"/>
          <p:nvPr/>
        </p:nvSpPr>
        <p:spPr>
          <a:xfrm>
            <a:off x="6931152" y="4846320"/>
            <a:ext cx="3611880" cy="237744"/>
          </a:xfrm>
          <a:prstGeom prst="rect">
            <a:avLst/>
          </a:prstGeom>
          <a:noFill/>
        </p:spPr>
        <p:txBody>
          <a:bodyPr wrap="none" lIns="0" rIns="0" tIns="0" bIns="0" anchor="t">
            <a:spAutoFit/>
          </a:bodyPr>
          <a:lstStyle/>
          <a:p>
            <a:pPr algn="l">
              <a:lnSpc>
                <a:spcPct val="100000"/>
              </a:lnSpc>
              <a:spcAft>
                <a:spcPts val="0"/>
              </a:spcAft>
            </a:pPr>
            <a:r>
              <a:rPr sz="1160" b="0">
                <a:solidFill>
                  <a:srgbClr val="1C2630"/>
                </a:solidFill>
                <a:latin typeface="Aptos"/>
              </a:rPr>
              <a:t>Không claim nhân quả, alpha dài hạn, hay khuyến nghị đầu tư.</a:t>
            </a:r>
          </a:p>
        </p:txBody>
      </p:sp>
      <p:sp>
        <p:nvSpPr>
          <p:cNvPr id="18" name="TextBox 17"/>
          <p:cNvSpPr txBox="1"/>
          <p:nvPr/>
        </p:nvSpPr>
        <p:spPr>
          <a:xfrm>
            <a:off x="658368" y="5138928"/>
            <a:ext cx="5760720" cy="384048"/>
          </a:xfrm>
          <a:prstGeom prst="rect">
            <a:avLst/>
          </a:prstGeom>
          <a:noFill/>
        </p:spPr>
        <p:txBody>
          <a:bodyPr wrap="none" lIns="0" rIns="0" tIns="0" bIns="0" anchor="t">
            <a:spAutoFit/>
          </a:bodyPr>
          <a:lstStyle/>
          <a:p>
            <a:pPr algn="l">
              <a:lnSpc>
                <a:spcPct val="100000"/>
              </a:lnSpc>
              <a:spcAft>
                <a:spcPts val="0"/>
              </a:spcAft>
            </a:pPr>
            <a:r>
              <a:rPr sz="1300" b="1">
                <a:solidFill>
                  <a:srgbClr val="122B46"/>
                </a:solidFill>
                <a:latin typeface="Aptos"/>
              </a:rPr>
              <a:t>Giá trị hiện tại: bằng chứng exploratory + quy trình kiểm định có thể audit.</a:t>
            </a:r>
          </a:p>
        </p:txBody>
      </p:sp>
      <p:sp>
        <p:nvSpPr>
          <p:cNvPr id="19" name="Rectangle 18"/>
          <p:cNvSpPr/>
          <p:nvPr/>
        </p:nvSpPr>
        <p:spPr>
          <a:xfrm>
            <a:off x="658368" y="6455664"/>
            <a:ext cx="10872216" cy="9144"/>
          </a:xfrm>
          <a:prstGeom prst="rect">
            <a:avLst/>
          </a:prstGeom>
          <a:solidFill>
            <a:srgbClr val="D7DEE4"/>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528816"/>
            <a:ext cx="9784080" cy="173736"/>
          </a:xfrm>
          <a:prstGeom prst="rect">
            <a:avLst/>
          </a:prstGeom>
          <a:noFill/>
        </p:spPr>
        <p:txBody>
          <a:bodyPr wrap="none" lIns="0" rIns="0" tIns="0" bIns="0" anchor="t">
            <a:spAutoFit/>
          </a:bodyPr>
          <a:lstStyle/>
          <a:p>
            <a:pPr algn="l">
              <a:lnSpc>
                <a:spcPct val="100000"/>
              </a:lnSpc>
              <a:spcAft>
                <a:spcPts val="0"/>
              </a:spcAft>
            </a:pPr>
            <a:r>
              <a:rPr sz="830" b="0">
                <a:solidFill>
                  <a:srgbClr val="5B6773"/>
                </a:solidFill>
                <a:latin typeface="Aptos"/>
              </a:rPr>
              <a:t>Nguồn: event_window_stat_tests_report.md; ket_qua_luan_van_semantic_news_materiality.md</a:t>
            </a:r>
          </a:p>
        </p:txBody>
      </p:sp>
      <p:sp>
        <p:nvSpPr>
          <p:cNvPr id="21" name="TextBox 20"/>
          <p:cNvSpPr txBox="1"/>
          <p:nvPr/>
        </p:nvSpPr>
        <p:spPr>
          <a:xfrm>
            <a:off x="9921240" y="6528816"/>
            <a:ext cx="1609344" cy="173736"/>
          </a:xfrm>
          <a:prstGeom prst="rect">
            <a:avLst/>
          </a:prstGeom>
          <a:noFill/>
        </p:spPr>
        <p:txBody>
          <a:bodyPr wrap="none" lIns="0" rIns="0" tIns="0" bIns="0" anchor="t">
            <a:spAutoFit/>
          </a:bodyPr>
          <a:lstStyle/>
          <a:p>
            <a:pPr algn="r">
              <a:lnSpc>
                <a:spcPct val="100000"/>
              </a:lnSpc>
              <a:spcAft>
                <a:spcPts val="0"/>
              </a:spcAft>
            </a:pPr>
            <a:r>
              <a:rPr sz="830" b="0">
                <a:solidFill>
                  <a:srgbClr val="5B6773"/>
                </a:solidFill>
                <a:latin typeface="Aptos"/>
              </a:rPr>
              <a:t>KLTN | Cập nhật hướng nghiên cứu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29184"/>
            <a:ext cx="7955279" cy="228600"/>
          </a:xfrm>
          <a:prstGeom prst="rect">
            <a:avLst/>
          </a:prstGeom>
          <a:noFill/>
        </p:spPr>
        <p:txBody>
          <a:bodyPr wrap="none" lIns="0" rIns="0" tIns="0" bIns="0" anchor="t">
            <a:spAutoFit/>
          </a:bodyPr>
          <a:lstStyle/>
          <a:p>
            <a:pPr algn="l">
              <a:lnSpc>
                <a:spcPct val="100000"/>
              </a:lnSpc>
              <a:spcAft>
                <a:spcPts val="0"/>
              </a:spcAft>
            </a:pPr>
            <a:r>
              <a:rPr sz="1000" b="1">
                <a:solidFill>
                  <a:srgbClr val="007076"/>
                </a:solidFill>
                <a:latin typeface="Aptos"/>
              </a:rPr>
              <a:t>ĐỊNH HƯỚNG MỚI</a:t>
            </a:r>
          </a:p>
        </p:txBody>
      </p:sp>
      <p:sp>
        <p:nvSpPr>
          <p:cNvPr id="3" name="TextBox 2"/>
          <p:cNvSpPr txBox="1"/>
          <p:nvPr/>
        </p:nvSpPr>
        <p:spPr>
          <a:xfrm>
            <a:off x="658368" y="603504"/>
            <a:ext cx="10241280" cy="566928"/>
          </a:xfrm>
          <a:prstGeom prst="rect">
            <a:avLst/>
          </a:prstGeom>
          <a:noFill/>
        </p:spPr>
        <p:txBody>
          <a:bodyPr wrap="none" lIns="0" rIns="0" tIns="0" bIns="0" anchor="t">
            <a:spAutoFit/>
          </a:bodyPr>
          <a:lstStyle/>
          <a:p>
            <a:pPr algn="l">
              <a:lnSpc>
                <a:spcPct val="100000"/>
              </a:lnSpc>
              <a:spcAft>
                <a:spcPts val="0"/>
              </a:spcAft>
            </a:pPr>
            <a:r>
              <a:rPr sz="2700" b="1">
                <a:solidFill>
                  <a:srgbClr val="122B46"/>
                </a:solidFill>
                <a:latin typeface="Aptos"/>
              </a:rPr>
              <a:t>Prototype hỗ trợ nhà đầu tư và bước tiếp theo</a:t>
            </a:r>
          </a:p>
        </p:txBody>
      </p:sp>
      <p:sp>
        <p:nvSpPr>
          <p:cNvPr id="4" name="Rectangle 3"/>
          <p:cNvSpPr/>
          <p:nvPr/>
        </p:nvSpPr>
        <p:spPr>
          <a:xfrm>
            <a:off x="658368" y="1252728"/>
            <a:ext cx="950976" cy="45720"/>
          </a:xfrm>
          <a:prstGeom prst="rect">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100816" y="356616"/>
            <a:ext cx="429768" cy="274320"/>
          </a:xfrm>
          <a:prstGeom prst="rect">
            <a:avLst/>
          </a:prstGeom>
          <a:noFill/>
        </p:spPr>
        <p:txBody>
          <a:bodyPr wrap="none" lIns="0" rIns="0" tIns="0" bIns="0" anchor="t">
            <a:spAutoFit/>
          </a:bodyPr>
          <a:lstStyle/>
          <a:p>
            <a:pPr algn="r">
              <a:lnSpc>
                <a:spcPct val="100000"/>
              </a:lnSpc>
              <a:spcAft>
                <a:spcPts val="0"/>
              </a:spcAft>
            </a:pPr>
            <a:r>
              <a:rPr sz="1100" b="1">
                <a:solidFill>
                  <a:srgbClr val="5B6773"/>
                </a:solidFill>
                <a:latin typeface="Aptos"/>
              </a:rPr>
              <a:t>06</a:t>
            </a:r>
          </a:p>
        </p:txBody>
      </p:sp>
      <p:pic>
        <p:nvPicPr>
          <p:cNvPr id="6" name="Picture 5" descr="streamlit_dashboard.png"/>
          <p:cNvPicPr>
            <a:picLocks noChangeAspect="1"/>
          </p:cNvPicPr>
          <p:nvPr/>
        </p:nvPicPr>
        <p:blipFill>
          <a:blip r:embed="rId2"/>
          <a:stretch>
            <a:fillRect/>
          </a:stretch>
        </p:blipFill>
        <p:spPr>
          <a:xfrm>
            <a:off x="694944" y="1444752"/>
            <a:ext cx="5084064" cy="4233672"/>
          </a:xfrm>
          <a:prstGeom prst="rect">
            <a:avLst/>
          </a:prstGeom>
        </p:spPr>
      </p:pic>
      <p:sp>
        <p:nvSpPr>
          <p:cNvPr id="7" name="Rounded Rectangle 6"/>
          <p:cNvSpPr/>
          <p:nvPr/>
        </p:nvSpPr>
        <p:spPr>
          <a:xfrm>
            <a:off x="694944" y="5742432"/>
            <a:ext cx="5084064" cy="429768"/>
          </a:xfrm>
          <a:prstGeom prst="roundRect">
            <a:avLst>
              <a:gd name="adj" fmla="val 8000"/>
            </a:avLst>
          </a:prstGeom>
          <a:solidFill>
            <a:srgbClr val="EDF6FA"/>
          </a:solidFill>
          <a:ln>
            <a:solidFill>
              <a:srgbClr val="EDF6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5879592"/>
            <a:ext cx="4636008" cy="164592"/>
          </a:xfrm>
          <a:prstGeom prst="rect">
            <a:avLst/>
          </a:prstGeom>
          <a:noFill/>
        </p:spPr>
        <p:txBody>
          <a:bodyPr wrap="none" lIns="0" rIns="0" tIns="0" bIns="0" anchor="t">
            <a:spAutoFit/>
          </a:bodyPr>
          <a:lstStyle/>
          <a:p>
            <a:pPr algn="ctr">
              <a:lnSpc>
                <a:spcPct val="100000"/>
              </a:lnSpc>
              <a:spcAft>
                <a:spcPts val="0"/>
              </a:spcAft>
            </a:pPr>
            <a:r>
              <a:rPr sz="1040" b="1">
                <a:solidFill>
                  <a:srgbClr val="122B46"/>
                </a:solidFill>
                <a:latin typeface="Aptos"/>
              </a:rPr>
              <a:t>Dashboard: tín hiệu kỹ thuật + evidence semantic + monitoring + outcome review</a:t>
            </a:r>
          </a:p>
        </p:txBody>
      </p:sp>
      <p:sp>
        <p:nvSpPr>
          <p:cNvPr id="9" name="TextBox 8"/>
          <p:cNvSpPr txBox="1"/>
          <p:nvPr/>
        </p:nvSpPr>
        <p:spPr>
          <a:xfrm>
            <a:off x="6144768" y="1554480"/>
            <a:ext cx="4434840" cy="256032"/>
          </a:xfrm>
          <a:prstGeom prst="rect">
            <a:avLst/>
          </a:prstGeom>
          <a:noFill/>
        </p:spPr>
        <p:txBody>
          <a:bodyPr wrap="none" lIns="0" rIns="0" tIns="0" bIns="0" anchor="t">
            <a:spAutoFit/>
          </a:bodyPr>
          <a:lstStyle/>
          <a:p>
            <a:pPr algn="l">
              <a:lnSpc>
                <a:spcPct val="100000"/>
              </a:lnSpc>
              <a:spcAft>
                <a:spcPts val="0"/>
              </a:spcAft>
            </a:pPr>
            <a:r>
              <a:rPr sz="1500" b="1">
                <a:solidFill>
                  <a:srgbClr val="122B46"/>
                </a:solidFill>
                <a:latin typeface="Aptos"/>
              </a:rPr>
              <a:t>Giá trị của hướng mới</a:t>
            </a:r>
          </a:p>
        </p:txBody>
      </p:sp>
      <p:sp>
        <p:nvSpPr>
          <p:cNvPr id="10" name="TextBox 9"/>
          <p:cNvSpPr txBox="1"/>
          <p:nvPr/>
        </p:nvSpPr>
        <p:spPr>
          <a:xfrm>
            <a:off x="6144768" y="1956816"/>
            <a:ext cx="4773168" cy="1490472"/>
          </a:xfrm>
          <a:prstGeom prst="rect">
            <a:avLst/>
          </a:prstGeom>
          <a:noFill/>
        </p:spPr>
        <p:txBody>
          <a:bodyPr wrap="none" lIns="36576" rIns="18288" tIns="18288" bIns="18288">
            <a:spAutoFit/>
          </a:bodyPr>
          <a:lstStyle/>
          <a:p>
            <a:pPr>
              <a:lnSpc>
                <a:spcPct val="108000"/>
              </a:lnSpc>
              <a:spcAft>
                <a:spcPts val="700"/>
              </a:spcAft>
              <a:defRPr sz="1320">
                <a:solidFill>
                  <a:srgbClr val="1C2630"/>
                </a:solidFill>
                <a:latin typeface="Aptos"/>
              </a:defRPr>
            </a:pPr>
            <a:r>
              <a:t>• Không chỉ trả về score: cho thấy tin nào, vì sao trọng yếu và câu bằng chứng.</a:t>
            </a:r>
          </a:p>
          <a:p>
            <a:pPr>
              <a:lnSpc>
                <a:spcPct val="108000"/>
              </a:lnSpc>
              <a:spcAft>
                <a:spcPts val="700"/>
              </a:spcAft>
              <a:defRPr sz="1320">
                <a:solidFill>
                  <a:srgbClr val="1C2630"/>
                </a:solidFill>
                <a:latin typeface="Aptos"/>
              </a:defRPr>
            </a:pPr>
            <a:r>
              <a:t>• Tách point-in-time evidence khỏi outcome review để hạn chế hindsight bias.</a:t>
            </a:r>
          </a:p>
          <a:p>
            <a:pPr>
              <a:lnSpc>
                <a:spcPct val="108000"/>
              </a:lnSpc>
              <a:spcAft>
                <a:spcPts val="700"/>
              </a:spcAft>
              <a:defRPr sz="1320">
                <a:solidFill>
                  <a:srgbClr val="1C2630"/>
                </a:solidFill>
                <a:latin typeface="Aptos"/>
              </a:defRPr>
            </a:pPr>
            <a:r>
              <a:t>• Keyword giữ vai trò baseline minh bạch và phần phản biện học thuật.</a:t>
            </a:r>
          </a:p>
        </p:txBody>
      </p:sp>
      <p:sp>
        <p:nvSpPr>
          <p:cNvPr id="11" name="TextBox 10"/>
          <p:cNvSpPr txBox="1"/>
          <p:nvPr/>
        </p:nvSpPr>
        <p:spPr>
          <a:xfrm>
            <a:off x="6144768" y="3685032"/>
            <a:ext cx="4434840" cy="256032"/>
          </a:xfrm>
          <a:prstGeom prst="rect">
            <a:avLst/>
          </a:prstGeom>
          <a:noFill/>
        </p:spPr>
        <p:txBody>
          <a:bodyPr wrap="none" lIns="0" rIns="0" tIns="0" bIns="0" anchor="t">
            <a:spAutoFit/>
          </a:bodyPr>
          <a:lstStyle/>
          <a:p>
            <a:pPr algn="l">
              <a:lnSpc>
                <a:spcPct val="100000"/>
              </a:lnSpc>
              <a:spcAft>
                <a:spcPts val="0"/>
              </a:spcAft>
            </a:pPr>
            <a:r>
              <a:rPr sz="1500" b="1">
                <a:solidFill>
                  <a:srgbClr val="122B46"/>
                </a:solidFill>
                <a:latin typeface="Aptos"/>
              </a:rPr>
              <a:t>Bước tiếp theo</a:t>
            </a:r>
          </a:p>
        </p:txBody>
      </p:sp>
      <p:sp>
        <p:nvSpPr>
          <p:cNvPr id="12" name="Rounded Rectangle 11"/>
          <p:cNvSpPr/>
          <p:nvPr/>
        </p:nvSpPr>
        <p:spPr>
          <a:xfrm>
            <a:off x="6144768" y="4087368"/>
            <a:ext cx="420624" cy="347472"/>
          </a:xfrm>
          <a:prstGeom prst="roundRect">
            <a:avLst>
              <a:gd name="adj" fmla="val 8000"/>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44768" y="4178808"/>
            <a:ext cx="420624" cy="137160"/>
          </a:xfrm>
          <a:prstGeom prst="rect">
            <a:avLst/>
          </a:prstGeom>
          <a:noFill/>
        </p:spPr>
        <p:txBody>
          <a:bodyPr wrap="none" lIns="0" rIns="0" tIns="0" bIns="0" anchor="t">
            <a:spAutoFit/>
          </a:bodyPr>
          <a:lstStyle/>
          <a:p>
            <a:pPr algn="ctr">
              <a:lnSpc>
                <a:spcPct val="100000"/>
              </a:lnSpc>
              <a:spcAft>
                <a:spcPts val="0"/>
              </a:spcAft>
            </a:pPr>
            <a:r>
              <a:rPr sz="900" b="1">
                <a:solidFill>
                  <a:srgbClr val="FFFFFF"/>
                </a:solidFill>
                <a:latin typeface="Aptos"/>
              </a:rPr>
              <a:t>01</a:t>
            </a:r>
          </a:p>
        </p:txBody>
      </p:sp>
      <p:sp>
        <p:nvSpPr>
          <p:cNvPr id="14" name="TextBox 13"/>
          <p:cNvSpPr txBox="1"/>
          <p:nvPr/>
        </p:nvSpPr>
        <p:spPr>
          <a:xfrm>
            <a:off x="6729984" y="4178808"/>
            <a:ext cx="4370832" cy="182880"/>
          </a:xfrm>
          <a:prstGeom prst="rect">
            <a:avLst/>
          </a:prstGeom>
          <a:noFill/>
        </p:spPr>
        <p:txBody>
          <a:bodyPr wrap="none" lIns="0" rIns="0" tIns="0" bIns="0" anchor="t">
            <a:spAutoFit/>
          </a:bodyPr>
          <a:lstStyle/>
          <a:p>
            <a:pPr algn="l">
              <a:lnSpc>
                <a:spcPct val="100000"/>
              </a:lnSpc>
              <a:spcAft>
                <a:spcPts val="0"/>
              </a:spcAft>
            </a:pPr>
            <a:r>
              <a:rPr sz="1220" b="0">
                <a:solidFill>
                  <a:srgbClr val="1C2630"/>
                </a:solidFill>
                <a:latin typeface="Aptos"/>
              </a:rPr>
              <a:t>Mở rộng human annotation và kiểm tra liên-chủ thể.</a:t>
            </a:r>
          </a:p>
        </p:txBody>
      </p:sp>
      <p:sp>
        <p:nvSpPr>
          <p:cNvPr id="15" name="Rounded Rectangle 14"/>
          <p:cNvSpPr/>
          <p:nvPr/>
        </p:nvSpPr>
        <p:spPr>
          <a:xfrm>
            <a:off x="6144768" y="4626864"/>
            <a:ext cx="420624" cy="347472"/>
          </a:xfrm>
          <a:prstGeom prst="roundRect">
            <a:avLst>
              <a:gd name="adj" fmla="val 8000"/>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4718304"/>
            <a:ext cx="420624" cy="137160"/>
          </a:xfrm>
          <a:prstGeom prst="rect">
            <a:avLst/>
          </a:prstGeom>
          <a:noFill/>
        </p:spPr>
        <p:txBody>
          <a:bodyPr wrap="none" lIns="0" rIns="0" tIns="0" bIns="0" anchor="t">
            <a:spAutoFit/>
          </a:bodyPr>
          <a:lstStyle/>
          <a:p>
            <a:pPr algn="ctr">
              <a:lnSpc>
                <a:spcPct val="100000"/>
              </a:lnSpc>
              <a:spcAft>
                <a:spcPts val="0"/>
              </a:spcAft>
            </a:pPr>
            <a:r>
              <a:rPr sz="900" b="1">
                <a:solidFill>
                  <a:srgbClr val="FFFFFF"/>
                </a:solidFill>
                <a:latin typeface="Aptos"/>
              </a:rPr>
              <a:t>02</a:t>
            </a:r>
          </a:p>
        </p:txBody>
      </p:sp>
      <p:sp>
        <p:nvSpPr>
          <p:cNvPr id="17" name="TextBox 16"/>
          <p:cNvSpPr txBox="1"/>
          <p:nvPr/>
        </p:nvSpPr>
        <p:spPr>
          <a:xfrm>
            <a:off x="6729984" y="4718304"/>
            <a:ext cx="4370832" cy="182880"/>
          </a:xfrm>
          <a:prstGeom prst="rect">
            <a:avLst/>
          </a:prstGeom>
          <a:noFill/>
        </p:spPr>
        <p:txBody>
          <a:bodyPr wrap="none" lIns="0" rIns="0" tIns="0" bIns="0" anchor="t">
            <a:spAutoFit/>
          </a:bodyPr>
          <a:lstStyle/>
          <a:p>
            <a:pPr algn="l">
              <a:lnSpc>
                <a:spcPct val="100000"/>
              </a:lnSpc>
              <a:spcAft>
                <a:spcPts val="0"/>
              </a:spcAft>
            </a:pPr>
            <a:r>
              <a:rPr sz="1220" b="0">
                <a:solidFill>
                  <a:srgbClr val="1C2630"/>
                </a:solidFill>
                <a:latin typeface="Aptos"/>
              </a:rPr>
              <a:t>Audit contamination, ticker matching và dữ liệu point-in-time.</a:t>
            </a:r>
          </a:p>
        </p:txBody>
      </p:sp>
      <p:sp>
        <p:nvSpPr>
          <p:cNvPr id="18" name="Rounded Rectangle 17"/>
          <p:cNvSpPr/>
          <p:nvPr/>
        </p:nvSpPr>
        <p:spPr>
          <a:xfrm>
            <a:off x="6144768" y="5166359"/>
            <a:ext cx="420624" cy="347472"/>
          </a:xfrm>
          <a:prstGeom prst="roundRect">
            <a:avLst>
              <a:gd name="adj" fmla="val 8000"/>
            </a:avLst>
          </a:prstGeom>
          <a:solidFill>
            <a:srgbClr val="007076"/>
          </a:solidFill>
          <a:ln>
            <a:solidFill>
              <a:srgbClr val="0070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5257799"/>
            <a:ext cx="420624" cy="137160"/>
          </a:xfrm>
          <a:prstGeom prst="rect">
            <a:avLst/>
          </a:prstGeom>
          <a:noFill/>
        </p:spPr>
        <p:txBody>
          <a:bodyPr wrap="none" lIns="0" rIns="0" tIns="0" bIns="0" anchor="t">
            <a:spAutoFit/>
          </a:bodyPr>
          <a:lstStyle/>
          <a:p>
            <a:pPr algn="ctr">
              <a:lnSpc>
                <a:spcPct val="100000"/>
              </a:lnSpc>
              <a:spcAft>
                <a:spcPts val="0"/>
              </a:spcAft>
            </a:pPr>
            <a:r>
              <a:rPr sz="900" b="1">
                <a:solidFill>
                  <a:srgbClr val="FFFFFF"/>
                </a:solidFill>
                <a:latin typeface="Aptos"/>
              </a:rPr>
              <a:t>03</a:t>
            </a:r>
          </a:p>
        </p:txBody>
      </p:sp>
      <p:sp>
        <p:nvSpPr>
          <p:cNvPr id="20" name="TextBox 19"/>
          <p:cNvSpPr txBox="1"/>
          <p:nvPr/>
        </p:nvSpPr>
        <p:spPr>
          <a:xfrm>
            <a:off x="6729984" y="5257799"/>
            <a:ext cx="4370832" cy="182880"/>
          </a:xfrm>
          <a:prstGeom prst="rect">
            <a:avLst/>
          </a:prstGeom>
          <a:noFill/>
        </p:spPr>
        <p:txBody>
          <a:bodyPr wrap="none" lIns="0" rIns="0" tIns="0" bIns="0" anchor="t">
            <a:spAutoFit/>
          </a:bodyPr>
          <a:lstStyle/>
          <a:p>
            <a:pPr algn="l">
              <a:lnSpc>
                <a:spcPct val="100000"/>
              </a:lnSpc>
              <a:spcAft>
                <a:spcPts val="0"/>
              </a:spcAft>
            </a:pPr>
            <a:r>
              <a:rPr sz="1220" b="0">
                <a:solidFill>
                  <a:srgbClr val="1C2630"/>
                </a:solidFill>
                <a:latin typeface="Aptos"/>
              </a:rPr>
              <a:t>Paper-trading trước bất kỳ claim nào về tính hữu ích đầu tư.</a:t>
            </a:r>
          </a:p>
        </p:txBody>
      </p:sp>
      <p:sp>
        <p:nvSpPr>
          <p:cNvPr id="21" name="Rectangle 20"/>
          <p:cNvSpPr/>
          <p:nvPr/>
        </p:nvSpPr>
        <p:spPr>
          <a:xfrm>
            <a:off x="658368" y="6455664"/>
            <a:ext cx="10872216" cy="9144"/>
          </a:xfrm>
          <a:prstGeom prst="rect">
            <a:avLst/>
          </a:prstGeom>
          <a:solidFill>
            <a:srgbClr val="D7DEE4"/>
          </a:solidFill>
          <a:ln>
            <a:solidFill>
              <a:srgbClr val="D7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6528816"/>
            <a:ext cx="9784080" cy="173736"/>
          </a:xfrm>
          <a:prstGeom prst="rect">
            <a:avLst/>
          </a:prstGeom>
          <a:noFill/>
        </p:spPr>
        <p:txBody>
          <a:bodyPr wrap="none" lIns="0" rIns="0" tIns="0" bIns="0" anchor="t">
            <a:spAutoFit/>
          </a:bodyPr>
          <a:lstStyle/>
          <a:p>
            <a:pPr algn="l">
              <a:lnSpc>
                <a:spcPct val="100000"/>
              </a:lnSpc>
              <a:spcAft>
                <a:spcPts val="0"/>
              </a:spcAft>
            </a:pPr>
            <a:r>
              <a:rPr sz="830" b="0">
                <a:solidFill>
                  <a:srgbClr val="5B6773"/>
                </a:solidFill>
                <a:latin typeface="Aptos"/>
              </a:rPr>
              <a:t>Nguồn: EvidenceTrace dashboard; reports/decision_support; canonical semantic news materiality report</a:t>
            </a:r>
          </a:p>
        </p:txBody>
      </p:sp>
      <p:sp>
        <p:nvSpPr>
          <p:cNvPr id="23" name="TextBox 22"/>
          <p:cNvSpPr txBox="1"/>
          <p:nvPr/>
        </p:nvSpPr>
        <p:spPr>
          <a:xfrm>
            <a:off x="9921240" y="6528816"/>
            <a:ext cx="1609344" cy="173736"/>
          </a:xfrm>
          <a:prstGeom prst="rect">
            <a:avLst/>
          </a:prstGeom>
          <a:noFill/>
        </p:spPr>
        <p:txBody>
          <a:bodyPr wrap="none" lIns="0" rIns="0" tIns="0" bIns="0" anchor="t">
            <a:spAutoFit/>
          </a:bodyPr>
          <a:lstStyle/>
          <a:p>
            <a:pPr algn="r">
              <a:lnSpc>
                <a:spcPct val="100000"/>
              </a:lnSpc>
              <a:spcAft>
                <a:spcPts val="0"/>
              </a:spcAft>
            </a:pPr>
            <a:r>
              <a:rPr sz="830" b="0">
                <a:solidFill>
                  <a:srgbClr val="5B6773"/>
                </a:solidFill>
                <a:latin typeface="Aptos"/>
              </a:rPr>
              <a:t>KLTN | Cập nhật hướng nghiên cứu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